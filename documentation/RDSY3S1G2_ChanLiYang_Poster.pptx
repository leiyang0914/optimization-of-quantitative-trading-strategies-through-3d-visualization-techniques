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7" r:id="rId2"/>
  </p:sldIdLst>
  <p:sldSz cx="21396325" cy="30267275"/>
  <p:notesSz cx="6858000" cy="9144000"/>
  <p:defaultTextStyle>
    <a:defPPr>
      <a:defRPr lang="en-US"/>
    </a:defPPr>
    <a:lvl1pPr marL="0" algn="l" defTabSz="643467" rtl="0" eaLnBrk="1" latinLnBrk="0" hangingPunct="1">
      <a:defRPr sz="2534" kern="1200">
        <a:solidFill>
          <a:schemeClr val="tx1"/>
        </a:solidFill>
        <a:latin typeface="+mn-lt"/>
        <a:ea typeface="+mn-ea"/>
        <a:cs typeface="+mn-cs"/>
      </a:defRPr>
    </a:lvl1pPr>
    <a:lvl2pPr marL="643467" algn="l" defTabSz="643467" rtl="0" eaLnBrk="1" latinLnBrk="0" hangingPunct="1">
      <a:defRPr sz="2534" kern="1200">
        <a:solidFill>
          <a:schemeClr val="tx1"/>
        </a:solidFill>
        <a:latin typeface="+mn-lt"/>
        <a:ea typeface="+mn-ea"/>
        <a:cs typeface="+mn-cs"/>
      </a:defRPr>
    </a:lvl2pPr>
    <a:lvl3pPr marL="1286935" algn="l" defTabSz="643467" rtl="0" eaLnBrk="1" latinLnBrk="0" hangingPunct="1">
      <a:defRPr sz="2534" kern="1200">
        <a:solidFill>
          <a:schemeClr val="tx1"/>
        </a:solidFill>
        <a:latin typeface="+mn-lt"/>
        <a:ea typeface="+mn-ea"/>
        <a:cs typeface="+mn-cs"/>
      </a:defRPr>
    </a:lvl3pPr>
    <a:lvl4pPr marL="1930402" algn="l" defTabSz="643467" rtl="0" eaLnBrk="1" latinLnBrk="0" hangingPunct="1">
      <a:defRPr sz="2534" kern="1200">
        <a:solidFill>
          <a:schemeClr val="tx1"/>
        </a:solidFill>
        <a:latin typeface="+mn-lt"/>
        <a:ea typeface="+mn-ea"/>
        <a:cs typeface="+mn-cs"/>
      </a:defRPr>
    </a:lvl4pPr>
    <a:lvl5pPr marL="2573872" algn="l" defTabSz="643467" rtl="0" eaLnBrk="1" latinLnBrk="0" hangingPunct="1">
      <a:defRPr sz="2534" kern="1200">
        <a:solidFill>
          <a:schemeClr val="tx1"/>
        </a:solidFill>
        <a:latin typeface="+mn-lt"/>
        <a:ea typeface="+mn-ea"/>
        <a:cs typeface="+mn-cs"/>
      </a:defRPr>
    </a:lvl5pPr>
    <a:lvl6pPr marL="3217338" algn="l" defTabSz="643467" rtl="0" eaLnBrk="1" latinLnBrk="0" hangingPunct="1">
      <a:defRPr sz="2534" kern="1200">
        <a:solidFill>
          <a:schemeClr val="tx1"/>
        </a:solidFill>
        <a:latin typeface="+mn-lt"/>
        <a:ea typeface="+mn-ea"/>
        <a:cs typeface="+mn-cs"/>
      </a:defRPr>
    </a:lvl6pPr>
    <a:lvl7pPr marL="3860807" algn="l" defTabSz="643467" rtl="0" eaLnBrk="1" latinLnBrk="0" hangingPunct="1">
      <a:defRPr sz="2534" kern="1200">
        <a:solidFill>
          <a:schemeClr val="tx1"/>
        </a:solidFill>
        <a:latin typeface="+mn-lt"/>
        <a:ea typeface="+mn-ea"/>
        <a:cs typeface="+mn-cs"/>
      </a:defRPr>
    </a:lvl7pPr>
    <a:lvl8pPr marL="4504273" algn="l" defTabSz="643467" rtl="0" eaLnBrk="1" latinLnBrk="0" hangingPunct="1">
      <a:defRPr sz="2534" kern="1200">
        <a:solidFill>
          <a:schemeClr val="tx1"/>
        </a:solidFill>
        <a:latin typeface="+mn-lt"/>
        <a:ea typeface="+mn-ea"/>
        <a:cs typeface="+mn-cs"/>
      </a:defRPr>
    </a:lvl8pPr>
    <a:lvl9pPr marL="5147742" algn="l" defTabSz="643467" rtl="0" eaLnBrk="1" latinLnBrk="0" hangingPunct="1">
      <a:defRPr sz="253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3" userDrawn="1">
          <p15:clr>
            <a:srgbClr val="A4A3A4"/>
          </p15:clr>
        </p15:guide>
        <p15:guide id="2" pos="67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D3391F"/>
    <a:srgbClr val="E4604A"/>
    <a:srgbClr val="C1341D"/>
    <a:srgbClr val="F6E6AC"/>
    <a:srgbClr val="F4F0AA"/>
    <a:srgbClr val="FEC382"/>
    <a:srgbClr val="FDB25F"/>
    <a:srgbClr val="F5DAA5"/>
    <a:srgbClr val="F4CD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42" autoAdjust="0"/>
    <p:restoredTop sz="94660"/>
  </p:normalViewPr>
  <p:slideViewPr>
    <p:cSldViewPr snapToGrid="0">
      <p:cViewPr>
        <p:scale>
          <a:sx n="50" d="100"/>
          <a:sy n="50" d="100"/>
        </p:scale>
        <p:origin x="29" y="-5126"/>
      </p:cViewPr>
      <p:guideLst>
        <p:guide orient="horz" pos="9533"/>
        <p:guide pos="67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07223" y="3540892"/>
            <a:ext cx="13146934" cy="11216417"/>
          </a:xfrm>
        </p:spPr>
        <p:txBody>
          <a:bodyPr bIns="0" anchor="b">
            <a:normAutofit/>
          </a:bodyPr>
          <a:lstStyle>
            <a:lvl1pPr algn="l">
              <a:defRPr sz="8841"/>
            </a:lvl1pPr>
          </a:lstStyle>
          <a:p>
            <a:r>
              <a:rPr lang="en-US"/>
              <a:t>Click to edit Master title style</a:t>
            </a:r>
            <a:endParaRPr lang="en-US" dirty="0"/>
          </a:p>
        </p:txBody>
      </p:sp>
      <p:sp>
        <p:nvSpPr>
          <p:cNvPr id="3" name="Subtitle 2"/>
          <p:cNvSpPr>
            <a:spLocks noGrp="1"/>
          </p:cNvSpPr>
          <p:nvPr>
            <p:ph type="subTitle" idx="1"/>
          </p:nvPr>
        </p:nvSpPr>
        <p:spPr>
          <a:xfrm>
            <a:off x="5607223" y="15584718"/>
            <a:ext cx="13146934" cy="4314658"/>
          </a:xfrm>
        </p:spPr>
        <p:txBody>
          <a:bodyPr tIns="91440" bIns="91440">
            <a:normAutofit/>
          </a:bodyPr>
          <a:lstStyle>
            <a:lvl1pPr marL="0" indent="0" algn="l">
              <a:buNone/>
              <a:defRPr sz="2620" b="0" cap="all" baseline="0">
                <a:solidFill>
                  <a:schemeClr val="tx1"/>
                </a:solidFill>
              </a:defRPr>
            </a:lvl1pPr>
            <a:lvl2pPr marL="561406" indent="0" algn="ctr">
              <a:buNone/>
              <a:defRPr sz="2456"/>
            </a:lvl2pPr>
            <a:lvl3pPr marL="1122812" indent="0" algn="ctr">
              <a:buNone/>
              <a:defRPr sz="2210"/>
            </a:lvl3pPr>
            <a:lvl4pPr marL="1684218" indent="0" algn="ctr">
              <a:buNone/>
              <a:defRPr sz="1964"/>
            </a:lvl4pPr>
            <a:lvl5pPr marL="2245625" indent="0" algn="ctr">
              <a:buNone/>
              <a:defRPr sz="1964"/>
            </a:lvl5pPr>
            <a:lvl6pPr marL="2807030" indent="0" algn="ctr">
              <a:buNone/>
              <a:defRPr sz="1964"/>
            </a:lvl6pPr>
            <a:lvl7pPr marL="3368436" indent="0" algn="ctr">
              <a:buNone/>
              <a:defRPr sz="1964"/>
            </a:lvl7pPr>
            <a:lvl8pPr marL="3929842" indent="0" algn="ctr">
              <a:buNone/>
              <a:defRPr sz="1964"/>
            </a:lvl8pPr>
            <a:lvl9pPr marL="4491248" indent="0" algn="ctr">
              <a:buNone/>
              <a:defRPr sz="196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5" name="Footer Placeholder 4"/>
          <p:cNvSpPr>
            <a:spLocks noGrp="1"/>
          </p:cNvSpPr>
          <p:nvPr>
            <p:ph type="ftr" sz="quarter" idx="11"/>
          </p:nvPr>
        </p:nvSpPr>
        <p:spPr>
          <a:xfrm>
            <a:off x="5607222" y="1453381"/>
            <a:ext cx="7221709" cy="1364636"/>
          </a:xfrm>
        </p:spPr>
        <p:txBody>
          <a:bodyPr/>
          <a:lstStyle/>
          <a:p>
            <a:endParaRPr lang="en-MY" dirty="0"/>
          </a:p>
        </p:txBody>
      </p:sp>
      <p:sp>
        <p:nvSpPr>
          <p:cNvPr id="6" name="Slide Number Placeholder 5"/>
          <p:cNvSpPr>
            <a:spLocks noGrp="1"/>
          </p:cNvSpPr>
          <p:nvPr>
            <p:ph type="sldNum" sz="quarter" idx="12"/>
          </p:nvPr>
        </p:nvSpPr>
        <p:spPr>
          <a:xfrm>
            <a:off x="3357108" y="3526210"/>
            <a:ext cx="1876637" cy="2222504"/>
          </a:xfrm>
        </p:spPr>
        <p:txBody>
          <a:bodyPr/>
          <a:lstStyle/>
          <a:p>
            <a:fld id="{FA12F617-DA18-4316-8F55-4EF5B7D6BC5B}" type="slidenum">
              <a:rPr lang="en-MY" smtClean="0"/>
              <a:pPr/>
              <a:t>‹#›</a:t>
            </a:fld>
            <a:endParaRPr lang="en-MY" dirty="0"/>
          </a:p>
        </p:txBody>
      </p:sp>
      <p:cxnSp>
        <p:nvCxnSpPr>
          <p:cNvPr id="15" name="Straight Connector 14"/>
          <p:cNvCxnSpPr/>
          <p:nvPr/>
        </p:nvCxnSpPr>
        <p:spPr>
          <a:xfrm>
            <a:off x="5607223" y="15572959"/>
            <a:ext cx="1314693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204193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1916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77671" y="7750553"/>
            <a:ext cx="13143395" cy="8332327"/>
          </a:xfrm>
        </p:spPr>
        <p:txBody>
          <a:bodyPr anchor="b">
            <a:normAutofit/>
          </a:bodyPr>
          <a:lstStyle>
            <a:lvl1pPr algn="l">
              <a:defRPr sz="5239"/>
            </a:lvl1pPr>
          </a:lstStyle>
          <a:p>
            <a:r>
              <a:rPr lang="en-US"/>
              <a:t>Click to edit Master title style</a:t>
            </a:r>
            <a:endParaRPr lang="en-US" dirty="0"/>
          </a:p>
        </p:txBody>
      </p:sp>
      <p:sp>
        <p:nvSpPr>
          <p:cNvPr id="3" name="Text Placeholder 2"/>
          <p:cNvSpPr>
            <a:spLocks noGrp="1"/>
          </p:cNvSpPr>
          <p:nvPr>
            <p:ph type="body" idx="1"/>
          </p:nvPr>
        </p:nvSpPr>
        <p:spPr>
          <a:xfrm>
            <a:off x="3377674" y="16798371"/>
            <a:ext cx="13143395" cy="4470487"/>
          </a:xfrm>
        </p:spPr>
        <p:txBody>
          <a:bodyPr tIns="91440">
            <a:normAutofit/>
          </a:bodyPr>
          <a:lstStyle>
            <a:lvl1pPr marL="0" indent="0" algn="l">
              <a:buNone/>
              <a:defRPr sz="2947">
                <a:solidFill>
                  <a:schemeClr val="tx1"/>
                </a:solidFill>
              </a:defRPr>
            </a:lvl1pPr>
            <a:lvl2pPr marL="561406" indent="0">
              <a:buNone/>
              <a:defRPr sz="2456">
                <a:solidFill>
                  <a:schemeClr val="tx1">
                    <a:tint val="75000"/>
                  </a:schemeClr>
                </a:solidFill>
              </a:defRPr>
            </a:lvl2pPr>
            <a:lvl3pPr marL="1122812" indent="0">
              <a:buNone/>
              <a:defRPr sz="2210">
                <a:solidFill>
                  <a:schemeClr val="tx1">
                    <a:tint val="75000"/>
                  </a:schemeClr>
                </a:solidFill>
              </a:defRPr>
            </a:lvl3pPr>
            <a:lvl4pPr marL="1684218" indent="0">
              <a:buNone/>
              <a:defRPr sz="1964">
                <a:solidFill>
                  <a:schemeClr val="tx1">
                    <a:tint val="75000"/>
                  </a:schemeClr>
                </a:solidFill>
              </a:defRPr>
            </a:lvl4pPr>
            <a:lvl5pPr marL="2245625" indent="0">
              <a:buNone/>
              <a:defRPr sz="1964">
                <a:solidFill>
                  <a:schemeClr val="tx1">
                    <a:tint val="75000"/>
                  </a:schemeClr>
                </a:solidFill>
              </a:defRPr>
            </a:lvl5pPr>
            <a:lvl6pPr marL="2807030" indent="0">
              <a:buNone/>
              <a:defRPr sz="1964">
                <a:solidFill>
                  <a:schemeClr val="tx1">
                    <a:tint val="75000"/>
                  </a:schemeClr>
                </a:solidFill>
              </a:defRPr>
            </a:lvl6pPr>
            <a:lvl7pPr marL="3368436" indent="0">
              <a:buNone/>
              <a:defRPr sz="1964">
                <a:solidFill>
                  <a:schemeClr val="tx1">
                    <a:tint val="75000"/>
                  </a:schemeClr>
                </a:solidFill>
              </a:defRPr>
            </a:lvl7pPr>
            <a:lvl8pPr marL="3929842" indent="0">
              <a:buNone/>
              <a:defRPr sz="1964">
                <a:solidFill>
                  <a:schemeClr val="tx1">
                    <a:tint val="75000"/>
                  </a:schemeClr>
                </a:solidFill>
              </a:defRPr>
            </a:lvl8pPr>
            <a:lvl9pPr marL="4491248" indent="0">
              <a:buNone/>
              <a:defRPr sz="1964">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5" name="Straight Connector 14"/>
          <p:cNvCxnSpPr/>
          <p:nvPr/>
        </p:nvCxnSpPr>
        <p:spPr>
          <a:xfrm>
            <a:off x="3377671" y="16793020"/>
            <a:ext cx="1314339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8225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377672" y="3552324"/>
            <a:ext cx="15376486" cy="467516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377670" y="8888359"/>
            <a:ext cx="7314321" cy="151714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440349" y="8888360"/>
            <a:ext cx="7313809" cy="151714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6" name="Footer Placeholder 5"/>
          <p:cNvSpPr>
            <a:spLocks noGrp="1"/>
          </p:cNvSpPr>
          <p:nvPr>
            <p:ph type="ftr" sz="quarter" idx="11"/>
          </p:nvPr>
        </p:nvSpPr>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0670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3377672" y="3549126"/>
            <a:ext cx="15376488" cy="46619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3377673" y="8913142"/>
            <a:ext cx="7314075" cy="3539316"/>
          </a:xfrm>
        </p:spPr>
        <p:txBody>
          <a:bodyPr anchor="b">
            <a:normAutofit/>
          </a:bodyPr>
          <a:lstStyle>
            <a:lvl1pPr marL="0" indent="0">
              <a:lnSpc>
                <a:spcPct val="100000"/>
              </a:lnSpc>
              <a:buNone/>
              <a:defRPr sz="3602" b="0" cap="all" baseline="0">
                <a:solidFill>
                  <a:schemeClr val="accent1"/>
                </a:solidFill>
              </a:defRPr>
            </a:lvl1pPr>
            <a:lvl2pPr marL="561406" indent="0">
              <a:buNone/>
              <a:defRPr sz="2456" b="1"/>
            </a:lvl2pPr>
            <a:lvl3pPr marL="1122812" indent="0">
              <a:buNone/>
              <a:defRPr sz="2210" b="1"/>
            </a:lvl3pPr>
            <a:lvl4pPr marL="1684218" indent="0">
              <a:buNone/>
              <a:defRPr sz="1964" b="1"/>
            </a:lvl4pPr>
            <a:lvl5pPr marL="2245625" indent="0">
              <a:buNone/>
              <a:defRPr sz="1964" b="1"/>
            </a:lvl5pPr>
            <a:lvl6pPr marL="2807030" indent="0">
              <a:buNone/>
              <a:defRPr sz="1964" b="1"/>
            </a:lvl6pPr>
            <a:lvl7pPr marL="3368436" indent="0">
              <a:buNone/>
              <a:defRPr sz="1964" b="1"/>
            </a:lvl7pPr>
            <a:lvl8pPr marL="3929842" indent="0">
              <a:buNone/>
              <a:defRPr sz="1964" b="1"/>
            </a:lvl8pPr>
            <a:lvl9pPr marL="4491248" indent="0">
              <a:buNone/>
              <a:defRPr sz="1964" b="1"/>
            </a:lvl9pPr>
          </a:lstStyle>
          <a:p>
            <a:pPr lvl="0"/>
            <a:r>
              <a:rPr lang="en-US"/>
              <a:t>Edit Master text styles</a:t>
            </a:r>
          </a:p>
        </p:txBody>
      </p:sp>
      <p:sp>
        <p:nvSpPr>
          <p:cNvPr id="4" name="Content Placeholder 3"/>
          <p:cNvSpPr>
            <a:spLocks noGrp="1"/>
          </p:cNvSpPr>
          <p:nvPr>
            <p:ph sz="half" idx="2"/>
          </p:nvPr>
        </p:nvSpPr>
        <p:spPr>
          <a:xfrm>
            <a:off x="3377673" y="12464711"/>
            <a:ext cx="7314075" cy="11671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440349" y="8928382"/>
            <a:ext cx="7313809" cy="3540614"/>
          </a:xfrm>
        </p:spPr>
        <p:txBody>
          <a:bodyPr anchor="b">
            <a:normAutofit/>
          </a:bodyPr>
          <a:lstStyle>
            <a:lvl1pPr marL="0" indent="0">
              <a:lnSpc>
                <a:spcPct val="100000"/>
              </a:lnSpc>
              <a:buNone/>
              <a:defRPr sz="3602" b="0" cap="all" baseline="0">
                <a:solidFill>
                  <a:schemeClr val="accent1"/>
                </a:solidFill>
              </a:defRPr>
            </a:lvl1pPr>
            <a:lvl2pPr marL="561406" indent="0">
              <a:buNone/>
              <a:defRPr sz="2456" b="1"/>
            </a:lvl2pPr>
            <a:lvl3pPr marL="1122812" indent="0">
              <a:buNone/>
              <a:defRPr sz="2210" b="1"/>
            </a:lvl3pPr>
            <a:lvl4pPr marL="1684218" indent="0">
              <a:buNone/>
              <a:defRPr sz="1964" b="1"/>
            </a:lvl4pPr>
            <a:lvl5pPr marL="2245625" indent="0">
              <a:buNone/>
              <a:defRPr sz="1964" b="1"/>
            </a:lvl5pPr>
            <a:lvl6pPr marL="2807030" indent="0">
              <a:buNone/>
              <a:defRPr sz="1964" b="1"/>
            </a:lvl6pPr>
            <a:lvl7pPr marL="3368436" indent="0">
              <a:buNone/>
              <a:defRPr sz="1964" b="1"/>
            </a:lvl7pPr>
            <a:lvl8pPr marL="3929842" indent="0">
              <a:buNone/>
              <a:defRPr sz="1964" b="1"/>
            </a:lvl8pPr>
            <a:lvl9pPr marL="4491248" indent="0">
              <a:buNone/>
              <a:defRPr sz="1964" b="1"/>
            </a:lvl9pPr>
          </a:lstStyle>
          <a:p>
            <a:pPr lvl="0"/>
            <a:r>
              <a:rPr lang="en-US"/>
              <a:t>Edit Master text styles</a:t>
            </a:r>
          </a:p>
        </p:txBody>
      </p:sp>
      <p:sp>
        <p:nvSpPr>
          <p:cNvPr id="6" name="Content Placeholder 5"/>
          <p:cNvSpPr>
            <a:spLocks noGrp="1"/>
          </p:cNvSpPr>
          <p:nvPr>
            <p:ph sz="quarter" idx="4"/>
          </p:nvPr>
        </p:nvSpPr>
        <p:spPr>
          <a:xfrm>
            <a:off x="11440349" y="12452446"/>
            <a:ext cx="7313809" cy="116398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8" name="Footer Placeholder 7"/>
          <p:cNvSpPr>
            <a:spLocks noGrp="1"/>
          </p:cNvSpPr>
          <p:nvPr>
            <p:ph type="ftr" sz="quarter" idx="11"/>
          </p:nvPr>
        </p:nvSpPr>
        <p:spPr/>
        <p:txBody>
          <a:bodyPr/>
          <a:lstStyle/>
          <a:p>
            <a:endParaRPr lang="en-MY" dirty="0"/>
          </a:p>
        </p:txBody>
      </p:sp>
      <p:sp>
        <p:nvSpPr>
          <p:cNvPr id="9" name="Slide Number Placeholder 8"/>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1074763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4" name="Footer Placeholder 3"/>
          <p:cNvSpPr>
            <a:spLocks noGrp="1"/>
          </p:cNvSpPr>
          <p:nvPr>
            <p:ph type="ftr" sz="quarter" idx="11"/>
          </p:nvPr>
        </p:nvSpPr>
        <p:spPr/>
        <p:txBody>
          <a:bodyPr/>
          <a:lstStyle/>
          <a:p>
            <a:endParaRPr lang="en-MY" dirty="0"/>
          </a:p>
        </p:txBody>
      </p:sp>
      <p:sp>
        <p:nvSpPr>
          <p:cNvPr id="5" name="Slide Number Placeholder 4"/>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615951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3" name="Footer Placeholder 2"/>
          <p:cNvSpPr>
            <a:spLocks noGrp="1"/>
          </p:cNvSpPr>
          <p:nvPr>
            <p:ph type="ftr" sz="quarter" idx="11"/>
          </p:nvPr>
        </p:nvSpPr>
        <p:spPr/>
        <p:txBody>
          <a:bodyPr/>
          <a:lstStyle/>
          <a:p>
            <a:endParaRPr lang="en-MY" dirty="0"/>
          </a:p>
        </p:txBody>
      </p:sp>
      <p:sp>
        <p:nvSpPr>
          <p:cNvPr id="4" name="Slide Number Placeholder 3"/>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341663466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367261" y="3526215"/>
            <a:ext cx="5676555" cy="9917485"/>
          </a:xfrm>
        </p:spPr>
        <p:txBody>
          <a:bodyPr anchor="b">
            <a:normAutofit/>
          </a:bodyPr>
          <a:lstStyle>
            <a:lvl1pPr algn="l">
              <a:defRPr sz="3929"/>
            </a:lvl1pPr>
          </a:lstStyle>
          <a:p>
            <a:r>
              <a:rPr lang="en-US"/>
              <a:t>Click to edit Master title style</a:t>
            </a:r>
            <a:endParaRPr lang="en-US" dirty="0"/>
          </a:p>
        </p:txBody>
      </p:sp>
      <p:sp>
        <p:nvSpPr>
          <p:cNvPr id="3" name="Content Placeholder 2"/>
          <p:cNvSpPr>
            <a:spLocks noGrp="1"/>
          </p:cNvSpPr>
          <p:nvPr>
            <p:ph idx="1"/>
          </p:nvPr>
        </p:nvSpPr>
        <p:spPr>
          <a:xfrm>
            <a:off x="9796485" y="3526213"/>
            <a:ext cx="8957671" cy="20561383"/>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367261" y="14147206"/>
            <a:ext cx="5679875" cy="9922180"/>
          </a:xfrm>
        </p:spPr>
        <p:txBody>
          <a:bodyPr>
            <a:normAutofit/>
          </a:bodyPr>
          <a:lstStyle>
            <a:lvl1pPr marL="0" indent="0" algn="l">
              <a:buNone/>
              <a:defRPr sz="2620"/>
            </a:lvl1pPr>
            <a:lvl2pPr marL="561406" indent="0">
              <a:buNone/>
              <a:defRPr sz="1719"/>
            </a:lvl2pPr>
            <a:lvl3pPr marL="1122812" indent="0">
              <a:buNone/>
              <a:defRPr sz="1474"/>
            </a:lvl3pPr>
            <a:lvl4pPr marL="1684218" indent="0">
              <a:buNone/>
              <a:defRPr sz="1228"/>
            </a:lvl4pPr>
            <a:lvl5pPr marL="2245625" indent="0">
              <a:buNone/>
              <a:defRPr sz="1228"/>
            </a:lvl5pPr>
            <a:lvl6pPr marL="2807030" indent="0">
              <a:buNone/>
              <a:defRPr sz="1228"/>
            </a:lvl6pPr>
            <a:lvl7pPr marL="3368436" indent="0">
              <a:buNone/>
              <a:defRPr sz="1228"/>
            </a:lvl7pPr>
            <a:lvl8pPr marL="3929842" indent="0">
              <a:buNone/>
              <a:defRPr sz="1228"/>
            </a:lvl8pPr>
            <a:lvl9pPr marL="4491248" indent="0">
              <a:buNone/>
              <a:defRPr sz="1228"/>
            </a:lvl9pPr>
          </a:lstStyle>
          <a:p>
            <a:pPr lvl="0"/>
            <a:r>
              <a:rPr lang="en-US"/>
              <a:t>Edit Master text styles</a:t>
            </a:r>
          </a:p>
        </p:txBody>
      </p:sp>
      <p:sp>
        <p:nvSpPr>
          <p:cNvPr id="5" name="Date Placeholder 4"/>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6" name="Footer Placeholder 5"/>
          <p:cNvSpPr>
            <a:spLocks noGrp="1"/>
          </p:cNvSpPr>
          <p:nvPr>
            <p:ph type="ftr" sz="quarter" idx="11"/>
          </p:nvPr>
        </p:nvSpPr>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7" name="Straight Connector 16"/>
          <p:cNvCxnSpPr/>
          <p:nvPr/>
        </p:nvCxnSpPr>
        <p:spPr>
          <a:xfrm>
            <a:off x="3373591" y="14147197"/>
            <a:ext cx="567029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424492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11691468" y="2128033"/>
            <a:ext cx="8216402" cy="22725176"/>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3379206" y="4985025"/>
            <a:ext cx="7592923" cy="8079147"/>
          </a:xfrm>
        </p:spPr>
        <p:txBody>
          <a:bodyPr anchor="b">
            <a:normAutofit/>
          </a:bodyPr>
          <a:lstStyle>
            <a:lvl1pPr>
              <a:defRPr sz="5239"/>
            </a:lvl1pPr>
          </a:lstStyle>
          <a:p>
            <a:r>
              <a:rPr lang="en-US"/>
              <a:t>Click to edit Master title style</a:t>
            </a:r>
            <a:endParaRPr lang="en-US" dirty="0"/>
          </a:p>
        </p:txBody>
      </p:sp>
      <p:sp>
        <p:nvSpPr>
          <p:cNvPr id="3" name="Picture Placeholder 2"/>
          <p:cNvSpPr>
            <a:spLocks noGrp="1" noChangeAspect="1"/>
          </p:cNvSpPr>
          <p:nvPr>
            <p:ph type="pic" idx="1"/>
          </p:nvPr>
        </p:nvSpPr>
        <p:spPr>
          <a:xfrm>
            <a:off x="13197512" y="4954264"/>
            <a:ext cx="5229740" cy="17063747"/>
          </a:xfrm>
          <a:solidFill>
            <a:schemeClr val="bg1">
              <a:lumMod val="85000"/>
            </a:schemeClr>
          </a:solidFill>
          <a:ln w="9525" cap="sq">
            <a:noFill/>
            <a:miter lim="800000"/>
          </a:ln>
          <a:effectLst/>
        </p:spPr>
        <p:txBody>
          <a:bodyPr anchor="t"/>
          <a:lstStyle>
            <a:lvl1pPr marL="0" indent="0" algn="ctr">
              <a:buNone/>
              <a:defRPr sz="3929"/>
            </a:lvl1pPr>
            <a:lvl2pPr marL="561406" indent="0">
              <a:buNone/>
              <a:defRPr sz="3438"/>
            </a:lvl2pPr>
            <a:lvl3pPr marL="1122812" indent="0">
              <a:buNone/>
              <a:defRPr sz="2947"/>
            </a:lvl3pPr>
            <a:lvl4pPr marL="1684218" indent="0">
              <a:buNone/>
              <a:defRPr sz="2456"/>
            </a:lvl4pPr>
            <a:lvl5pPr marL="2245625" indent="0">
              <a:buNone/>
              <a:defRPr sz="2456"/>
            </a:lvl5pPr>
            <a:lvl6pPr marL="2807030" indent="0">
              <a:buNone/>
              <a:defRPr sz="2456"/>
            </a:lvl6pPr>
            <a:lvl7pPr marL="3368436" indent="0">
              <a:buNone/>
              <a:defRPr sz="2456"/>
            </a:lvl7pPr>
            <a:lvl8pPr marL="3929842" indent="0">
              <a:buNone/>
              <a:defRPr sz="2456"/>
            </a:lvl8pPr>
            <a:lvl9pPr marL="4491248" indent="0">
              <a:buNone/>
              <a:defRPr sz="2456"/>
            </a:lvl9pPr>
          </a:lstStyle>
          <a:p>
            <a:r>
              <a:rPr lang="en-US" dirty="0"/>
              <a:t>Click icon to add picture</a:t>
            </a:r>
          </a:p>
        </p:txBody>
      </p:sp>
      <p:sp>
        <p:nvSpPr>
          <p:cNvPr id="4" name="Text Placeholder 3"/>
          <p:cNvSpPr>
            <a:spLocks noGrp="1"/>
          </p:cNvSpPr>
          <p:nvPr>
            <p:ph type="body" sz="half" idx="2"/>
          </p:nvPr>
        </p:nvSpPr>
        <p:spPr>
          <a:xfrm>
            <a:off x="3377672" y="13884608"/>
            <a:ext cx="7582044" cy="8843367"/>
          </a:xfrm>
        </p:spPr>
        <p:txBody>
          <a:bodyPr>
            <a:normAutofit/>
          </a:bodyPr>
          <a:lstStyle>
            <a:lvl1pPr marL="0" indent="0" algn="l">
              <a:buNone/>
              <a:defRPr sz="2947"/>
            </a:lvl1pPr>
            <a:lvl2pPr marL="561406" indent="0">
              <a:buNone/>
              <a:defRPr sz="1719"/>
            </a:lvl2pPr>
            <a:lvl3pPr marL="1122812" indent="0">
              <a:buNone/>
              <a:defRPr sz="1474"/>
            </a:lvl3pPr>
            <a:lvl4pPr marL="1684218" indent="0">
              <a:buNone/>
              <a:defRPr sz="1228"/>
            </a:lvl4pPr>
            <a:lvl5pPr marL="2245625" indent="0">
              <a:buNone/>
              <a:defRPr sz="1228"/>
            </a:lvl5pPr>
            <a:lvl6pPr marL="2807030" indent="0">
              <a:buNone/>
              <a:defRPr sz="1228"/>
            </a:lvl6pPr>
            <a:lvl7pPr marL="3368436" indent="0">
              <a:buNone/>
              <a:defRPr sz="1228"/>
            </a:lvl7pPr>
            <a:lvl8pPr marL="3929842" indent="0">
              <a:buNone/>
              <a:defRPr sz="1228"/>
            </a:lvl8pPr>
            <a:lvl9pPr marL="4491248" indent="0">
              <a:buNone/>
              <a:defRPr sz="1228"/>
            </a:lvl9pPr>
          </a:lstStyle>
          <a:p>
            <a:pPr lvl="0"/>
            <a:r>
              <a:rPr lang="en-US"/>
              <a:t>Edit Master text styles</a:t>
            </a:r>
          </a:p>
        </p:txBody>
      </p:sp>
      <p:sp>
        <p:nvSpPr>
          <p:cNvPr id="5" name="Date Placeholder 4"/>
          <p:cNvSpPr>
            <a:spLocks noGrp="1"/>
          </p:cNvSpPr>
          <p:nvPr>
            <p:ph type="dt" sz="half" idx="10"/>
          </p:nvPr>
        </p:nvSpPr>
        <p:spPr>
          <a:xfrm>
            <a:off x="3361694" y="24140817"/>
            <a:ext cx="7610437" cy="1412839"/>
          </a:xfrm>
        </p:spPr>
        <p:txBody>
          <a:bodyPr/>
          <a:lstStyle>
            <a:lvl1pPr algn="l">
              <a:defRPr/>
            </a:lvl1pPr>
          </a:lstStyle>
          <a:p>
            <a:fld id="{77FC8CFA-A418-4BD6-80F4-AC29D1B69495}" type="datetimeFigureOut">
              <a:rPr lang="en-MY" smtClean="0"/>
              <a:pPr/>
              <a:t>16/9/2024</a:t>
            </a:fld>
            <a:endParaRPr lang="en-MY" dirty="0"/>
          </a:p>
        </p:txBody>
      </p:sp>
      <p:sp>
        <p:nvSpPr>
          <p:cNvPr id="6" name="Footer Placeholder 5"/>
          <p:cNvSpPr>
            <a:spLocks noGrp="1"/>
          </p:cNvSpPr>
          <p:nvPr>
            <p:ph type="ftr" sz="quarter" idx="11"/>
          </p:nvPr>
        </p:nvSpPr>
        <p:spPr>
          <a:xfrm>
            <a:off x="3363726" y="1406303"/>
            <a:ext cx="7608408" cy="1416406"/>
          </a:xfrm>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1" name="Straight Connector 30"/>
          <p:cNvCxnSpPr/>
          <p:nvPr/>
        </p:nvCxnSpPr>
        <p:spPr>
          <a:xfrm>
            <a:off x="3372500" y="13874068"/>
            <a:ext cx="7586087"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5293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221557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187709" y="3526217"/>
            <a:ext cx="2581007" cy="205660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377670" y="3526217"/>
            <a:ext cx="12404194" cy="205660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16/9/2024</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5" name="Straight Connector 14"/>
          <p:cNvCxnSpPr/>
          <p:nvPr/>
        </p:nvCxnSpPr>
        <p:spPr>
          <a:xfrm>
            <a:off x="16187706" y="3526217"/>
            <a:ext cx="0" cy="20566075"/>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320913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8896293"/>
            <a:ext cx="21396325" cy="1800465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2" y="26900952"/>
            <a:ext cx="21396328" cy="3419200"/>
          </a:xfrm>
          <a:prstGeom prst="rect">
            <a:avLst/>
          </a:prstGeom>
        </p:spPr>
      </p:pic>
      <p:cxnSp>
        <p:nvCxnSpPr>
          <p:cNvPr id="13" name="Straight Connector 12"/>
          <p:cNvCxnSpPr/>
          <p:nvPr/>
        </p:nvCxnSpPr>
        <p:spPr>
          <a:xfrm>
            <a:off x="0" y="26926872"/>
            <a:ext cx="21396325"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3377672" y="3550694"/>
            <a:ext cx="15376486" cy="463072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3377672" y="8896295"/>
            <a:ext cx="15376486" cy="1522902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3212520" y="1458068"/>
            <a:ext cx="5541639" cy="1364636"/>
          </a:xfrm>
          <a:prstGeom prst="rect">
            <a:avLst/>
          </a:prstGeom>
        </p:spPr>
        <p:txBody>
          <a:bodyPr vert="horz" lIns="91440" tIns="45720" rIns="91440" bIns="45720" rtlCol="0" anchor="ctr"/>
          <a:lstStyle>
            <a:lvl1pPr algn="r">
              <a:defRPr sz="1638">
                <a:solidFill>
                  <a:schemeClr val="tx1">
                    <a:tint val="75000"/>
                  </a:schemeClr>
                </a:solidFill>
              </a:defRPr>
            </a:lvl1pPr>
          </a:lstStyle>
          <a:p>
            <a:fld id="{77FC8CFA-A418-4BD6-80F4-AC29D1B69495}" type="datetimeFigureOut">
              <a:rPr lang="en-MY" smtClean="0"/>
              <a:pPr/>
              <a:t>16/9/2024</a:t>
            </a:fld>
            <a:endParaRPr lang="en-MY" dirty="0"/>
          </a:p>
        </p:txBody>
      </p:sp>
      <p:sp>
        <p:nvSpPr>
          <p:cNvPr id="5" name="Footer Placeholder 4"/>
          <p:cNvSpPr>
            <a:spLocks noGrp="1"/>
          </p:cNvSpPr>
          <p:nvPr>
            <p:ph type="ftr" sz="quarter" idx="3"/>
          </p:nvPr>
        </p:nvSpPr>
        <p:spPr>
          <a:xfrm>
            <a:off x="3377668" y="1453381"/>
            <a:ext cx="9439290" cy="1364636"/>
          </a:xfrm>
          <a:prstGeom prst="rect">
            <a:avLst/>
          </a:prstGeom>
        </p:spPr>
        <p:txBody>
          <a:bodyPr vert="horz" lIns="91440" tIns="45720" rIns="91440" bIns="45720" rtlCol="0" anchor="ctr"/>
          <a:lstStyle>
            <a:lvl1pPr algn="l">
              <a:defRPr sz="1638">
                <a:solidFill>
                  <a:schemeClr val="tx1">
                    <a:tint val="75000"/>
                  </a:schemeClr>
                </a:solidFill>
              </a:defRPr>
            </a:lvl1pPr>
          </a:lstStyle>
          <a:p>
            <a:endParaRPr lang="en-MY" dirty="0"/>
          </a:p>
        </p:txBody>
      </p:sp>
      <p:sp>
        <p:nvSpPr>
          <p:cNvPr id="6" name="Slide Number Placeholder 5"/>
          <p:cNvSpPr>
            <a:spLocks noGrp="1"/>
          </p:cNvSpPr>
          <p:nvPr>
            <p:ph type="sldNum" sz="quarter" idx="4"/>
          </p:nvPr>
        </p:nvSpPr>
        <p:spPr>
          <a:xfrm>
            <a:off x="1141244" y="3526210"/>
            <a:ext cx="1861991" cy="2222504"/>
          </a:xfrm>
          <a:prstGeom prst="rect">
            <a:avLst/>
          </a:prstGeom>
        </p:spPr>
        <p:txBody>
          <a:bodyPr vert="horz" lIns="91440" tIns="45720" rIns="91440" bIns="45720" rtlCol="0" anchor="t"/>
          <a:lstStyle>
            <a:lvl1pPr algn="r">
              <a:defRPr sz="4584">
                <a:solidFill>
                  <a:schemeClr val="accent1"/>
                </a:solidFill>
              </a:defRPr>
            </a:lvl1p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336375339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1122812" rtl="0" eaLnBrk="1" latinLnBrk="0" hangingPunct="1">
        <a:lnSpc>
          <a:spcPct val="90000"/>
        </a:lnSpc>
        <a:spcBef>
          <a:spcPct val="0"/>
        </a:spcBef>
        <a:buNone/>
        <a:defRPr sz="5239" b="0" i="0" kern="1200" cap="all">
          <a:solidFill>
            <a:schemeClr val="tx1"/>
          </a:solidFill>
          <a:effectLst/>
          <a:latin typeface="+mj-lt"/>
          <a:ea typeface="+mj-ea"/>
          <a:cs typeface="+mj-cs"/>
        </a:defRPr>
      </a:lvl1pPr>
    </p:titleStyle>
    <p:bodyStyle>
      <a:lvl1pPr marL="374271" indent="-374271" algn="l" defTabSz="1122812" rtl="0" eaLnBrk="1" latinLnBrk="0" hangingPunct="1">
        <a:lnSpc>
          <a:spcPct val="120000"/>
        </a:lnSpc>
        <a:spcBef>
          <a:spcPts val="1638"/>
        </a:spcBef>
        <a:buClr>
          <a:schemeClr val="accent1"/>
        </a:buClr>
        <a:buSzPct val="100000"/>
        <a:buFont typeface="Arial" panose="020B0604020202020204" pitchFamily="34" charset="0"/>
        <a:buChar char="•"/>
        <a:defRPr sz="3274" kern="1200" cap="none">
          <a:solidFill>
            <a:schemeClr val="tx1"/>
          </a:solidFill>
          <a:effectLst/>
          <a:latin typeface="+mn-lt"/>
          <a:ea typeface="+mn-ea"/>
          <a:cs typeface="+mn-cs"/>
        </a:defRPr>
      </a:lvl1pPr>
      <a:lvl2pPr marL="1122812"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620" kern="1200" cap="none" baseline="0">
          <a:solidFill>
            <a:schemeClr val="tx1"/>
          </a:solidFill>
          <a:effectLst/>
          <a:latin typeface="+mn-lt"/>
          <a:ea typeface="+mn-ea"/>
          <a:cs typeface="+mn-cs"/>
        </a:defRPr>
      </a:lvl2pPr>
      <a:lvl3pPr marL="1871354"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620" kern="1200" cap="none">
          <a:solidFill>
            <a:schemeClr val="tx1"/>
          </a:solidFill>
          <a:effectLst/>
          <a:latin typeface="+mn-lt"/>
          <a:ea typeface="+mn-ea"/>
          <a:cs typeface="+mn-cs"/>
        </a:defRPr>
      </a:lvl3pPr>
      <a:lvl4pPr marL="2619895"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292" kern="1200" cap="none" baseline="0">
          <a:solidFill>
            <a:schemeClr val="tx1"/>
          </a:solidFill>
          <a:effectLst/>
          <a:latin typeface="+mn-lt"/>
          <a:ea typeface="+mn-ea"/>
          <a:cs typeface="+mn-cs"/>
        </a:defRPr>
      </a:lvl4pPr>
      <a:lvl5pPr marL="3368436"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1964" kern="1200" cap="none">
          <a:solidFill>
            <a:schemeClr val="tx1"/>
          </a:solidFill>
          <a:effectLst/>
          <a:latin typeface="+mn-lt"/>
          <a:ea typeface="+mn-ea"/>
          <a:cs typeface="+mn-cs"/>
        </a:defRPr>
      </a:lvl5pPr>
      <a:lvl6pPr marL="4116977"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a:solidFill>
            <a:schemeClr val="tx1"/>
          </a:solidFill>
          <a:effectLst/>
          <a:latin typeface="+mn-lt"/>
          <a:ea typeface="+mn-ea"/>
          <a:cs typeface="+mn-cs"/>
        </a:defRPr>
      </a:lvl6pPr>
      <a:lvl7pPr marL="4865518"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a:solidFill>
            <a:schemeClr val="tx1"/>
          </a:solidFill>
          <a:effectLst/>
          <a:latin typeface="+mn-lt"/>
          <a:ea typeface="+mn-ea"/>
          <a:cs typeface="+mn-cs"/>
        </a:defRPr>
      </a:lvl7pPr>
      <a:lvl8pPr marL="5614061"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baseline="0">
          <a:solidFill>
            <a:schemeClr val="tx1"/>
          </a:solidFill>
          <a:effectLst/>
          <a:latin typeface="+mn-lt"/>
          <a:ea typeface="+mn-ea"/>
          <a:cs typeface="+mn-cs"/>
        </a:defRPr>
      </a:lvl8pPr>
      <a:lvl9pPr marL="6362602"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baseline="0">
          <a:solidFill>
            <a:schemeClr val="tx1"/>
          </a:solidFill>
          <a:effectLst/>
          <a:latin typeface="+mn-lt"/>
          <a:ea typeface="+mn-ea"/>
          <a:cs typeface="+mn-cs"/>
        </a:defRPr>
      </a:lvl9pPr>
    </p:bodyStyle>
    <p:otherStyle>
      <a:defPPr>
        <a:defRPr lang="en-US"/>
      </a:defPPr>
      <a:lvl1pPr marL="0" algn="l" defTabSz="1122812" rtl="0" eaLnBrk="1" latinLnBrk="0" hangingPunct="1">
        <a:defRPr sz="2210" kern="1200">
          <a:solidFill>
            <a:schemeClr val="tx1"/>
          </a:solidFill>
          <a:latin typeface="+mn-lt"/>
          <a:ea typeface="+mn-ea"/>
          <a:cs typeface="+mn-cs"/>
        </a:defRPr>
      </a:lvl1pPr>
      <a:lvl2pPr marL="561406" algn="l" defTabSz="1122812" rtl="0" eaLnBrk="1" latinLnBrk="0" hangingPunct="1">
        <a:defRPr sz="2210" kern="1200">
          <a:solidFill>
            <a:schemeClr val="tx1"/>
          </a:solidFill>
          <a:latin typeface="+mn-lt"/>
          <a:ea typeface="+mn-ea"/>
          <a:cs typeface="+mn-cs"/>
        </a:defRPr>
      </a:lvl2pPr>
      <a:lvl3pPr marL="1122812" algn="l" defTabSz="1122812" rtl="0" eaLnBrk="1" latinLnBrk="0" hangingPunct="1">
        <a:defRPr sz="2210" kern="1200">
          <a:solidFill>
            <a:schemeClr val="tx1"/>
          </a:solidFill>
          <a:latin typeface="+mn-lt"/>
          <a:ea typeface="+mn-ea"/>
          <a:cs typeface="+mn-cs"/>
        </a:defRPr>
      </a:lvl3pPr>
      <a:lvl4pPr marL="1684218" algn="l" defTabSz="1122812" rtl="0" eaLnBrk="1" latinLnBrk="0" hangingPunct="1">
        <a:defRPr sz="2210" kern="1200">
          <a:solidFill>
            <a:schemeClr val="tx1"/>
          </a:solidFill>
          <a:latin typeface="+mn-lt"/>
          <a:ea typeface="+mn-ea"/>
          <a:cs typeface="+mn-cs"/>
        </a:defRPr>
      </a:lvl4pPr>
      <a:lvl5pPr marL="2245625" algn="l" defTabSz="1122812" rtl="0" eaLnBrk="1" latinLnBrk="0" hangingPunct="1">
        <a:defRPr sz="2210" kern="1200">
          <a:solidFill>
            <a:schemeClr val="tx1"/>
          </a:solidFill>
          <a:latin typeface="+mn-lt"/>
          <a:ea typeface="+mn-ea"/>
          <a:cs typeface="+mn-cs"/>
        </a:defRPr>
      </a:lvl5pPr>
      <a:lvl6pPr marL="2807030" algn="l" defTabSz="1122812" rtl="0" eaLnBrk="1" latinLnBrk="0" hangingPunct="1">
        <a:defRPr sz="2210" kern="1200">
          <a:solidFill>
            <a:schemeClr val="tx1"/>
          </a:solidFill>
          <a:latin typeface="+mn-lt"/>
          <a:ea typeface="+mn-ea"/>
          <a:cs typeface="+mn-cs"/>
        </a:defRPr>
      </a:lvl6pPr>
      <a:lvl7pPr marL="3368436" algn="l" defTabSz="1122812" rtl="0" eaLnBrk="1" latinLnBrk="0" hangingPunct="1">
        <a:defRPr sz="2210" kern="1200">
          <a:solidFill>
            <a:schemeClr val="tx1"/>
          </a:solidFill>
          <a:latin typeface="+mn-lt"/>
          <a:ea typeface="+mn-ea"/>
          <a:cs typeface="+mn-cs"/>
        </a:defRPr>
      </a:lvl7pPr>
      <a:lvl8pPr marL="3929842" algn="l" defTabSz="1122812" rtl="0" eaLnBrk="1" latinLnBrk="0" hangingPunct="1">
        <a:defRPr sz="2210" kern="1200">
          <a:solidFill>
            <a:schemeClr val="tx1"/>
          </a:solidFill>
          <a:latin typeface="+mn-lt"/>
          <a:ea typeface="+mn-ea"/>
          <a:cs typeface="+mn-cs"/>
        </a:defRPr>
      </a:lvl8pPr>
      <a:lvl9pPr marL="4491248" algn="l" defTabSz="1122812" rtl="0" eaLnBrk="1" latinLnBrk="0" hangingPunct="1">
        <a:defRPr sz="221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6E6AC"/>
        </a:solidFill>
        <a:effectLst/>
      </p:bgPr>
    </p:bg>
    <p:spTree>
      <p:nvGrpSpPr>
        <p:cNvPr id="1" name=""/>
        <p:cNvGrpSpPr/>
        <p:nvPr/>
      </p:nvGrpSpPr>
      <p:grpSpPr>
        <a:xfrm>
          <a:off x="0" y="0"/>
          <a:ext cx="0" cy="0"/>
          <a:chOff x="0" y="0"/>
          <a:chExt cx="0" cy="0"/>
        </a:xfrm>
      </p:grpSpPr>
      <p:sp>
        <p:nvSpPr>
          <p:cNvPr id="3" name="Flowchart: Document 2">
            <a:extLst>
              <a:ext uri="{FF2B5EF4-FFF2-40B4-BE49-F238E27FC236}">
                <a16:creationId xmlns:a16="http://schemas.microsoft.com/office/drawing/2014/main" id="{6075C69B-E013-4717-87B7-BD2DD794A76D}"/>
              </a:ext>
            </a:extLst>
          </p:cNvPr>
          <p:cNvSpPr/>
          <p:nvPr/>
        </p:nvSpPr>
        <p:spPr>
          <a:xfrm>
            <a:off x="150316" y="160107"/>
            <a:ext cx="21095373" cy="3882247"/>
          </a:xfrm>
          <a:prstGeom prst="flowChartDocument">
            <a:avLst/>
          </a:prstGeom>
          <a:solidFill>
            <a:srgbClr val="FEC382">
              <a:alpha val="5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MY" sz="2500" dirty="0"/>
          </a:p>
        </p:txBody>
      </p:sp>
      <p:sp>
        <p:nvSpPr>
          <p:cNvPr id="26" name="Text Box 122">
            <a:extLst>
              <a:ext uri="{FF2B5EF4-FFF2-40B4-BE49-F238E27FC236}">
                <a16:creationId xmlns:a16="http://schemas.microsoft.com/office/drawing/2014/main" id="{82511CF9-405E-4736-B224-3F6A6BCB92F6}"/>
              </a:ext>
            </a:extLst>
          </p:cNvPr>
          <p:cNvSpPr txBox="1">
            <a:spLocks noChangeArrowheads="1"/>
          </p:cNvSpPr>
          <p:nvPr/>
        </p:nvSpPr>
        <p:spPr bwMode="auto">
          <a:xfrm>
            <a:off x="8150534" y="154655"/>
            <a:ext cx="13193159" cy="197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7694" tIns="294235" rIns="117694" bIns="294235"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500" b="1" dirty="0">
                <a:latin typeface="Arial" panose="020B0604020202020204" pitchFamily="34" charset="0"/>
                <a:cs typeface="Arial" panose="020B0604020202020204" pitchFamily="34" charset="0"/>
              </a:rPr>
              <a:t>Optimization of Quantitative Trading Strategies Through 3D Visualization Techniques</a:t>
            </a:r>
          </a:p>
        </p:txBody>
      </p:sp>
      <p:sp>
        <p:nvSpPr>
          <p:cNvPr id="27" name="Text Box 123">
            <a:extLst>
              <a:ext uri="{FF2B5EF4-FFF2-40B4-BE49-F238E27FC236}">
                <a16:creationId xmlns:a16="http://schemas.microsoft.com/office/drawing/2014/main" id="{E2AF3FE0-7799-475E-BC4B-6A41A657D37C}"/>
              </a:ext>
            </a:extLst>
          </p:cNvPr>
          <p:cNvSpPr txBox="1">
            <a:spLocks noChangeArrowheads="1"/>
          </p:cNvSpPr>
          <p:nvPr/>
        </p:nvSpPr>
        <p:spPr bwMode="auto">
          <a:xfrm>
            <a:off x="6754085" y="1682537"/>
            <a:ext cx="14491604" cy="233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694" tIns="117694" rIns="117694" bIns="117694"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endParaRPr lang="en-US" sz="3800" b="1" dirty="0">
              <a:latin typeface="Arial" panose="020B0604020202020204" pitchFamily="34" charset="0"/>
              <a:cs typeface="Arial" panose="020B0604020202020204" pitchFamily="34" charset="0"/>
            </a:endParaRPr>
          </a:p>
          <a:p>
            <a:pPr algn="ctr" eaLnBrk="1" hangingPunct="1"/>
            <a:r>
              <a:rPr lang="en-US" sz="3800" b="1" dirty="0">
                <a:latin typeface="Arial" panose="020B0604020202020204" pitchFamily="34" charset="0"/>
                <a:cs typeface="Arial" panose="020B0604020202020204" pitchFamily="34" charset="0"/>
              </a:rPr>
              <a:t>Chan Li Yang</a:t>
            </a:r>
          </a:p>
          <a:p>
            <a:pPr algn="ctr" eaLnBrk="1" hangingPunct="1"/>
            <a:r>
              <a:rPr lang="en-US" sz="3800" b="1" dirty="0">
                <a:latin typeface="Arial" panose="020B0604020202020204" pitchFamily="34" charset="0"/>
                <a:cs typeface="Arial" panose="020B0604020202020204" pitchFamily="34" charset="0"/>
              </a:rPr>
              <a:t>BCS(Hons) in Data Science</a:t>
            </a:r>
          </a:p>
          <a:p>
            <a:pPr algn="ctr" eaLnBrk="1" hangingPunct="1"/>
            <a:r>
              <a:rPr lang="en-US" sz="3800" b="1" dirty="0">
                <a:latin typeface="Arial" panose="020B0604020202020204" pitchFamily="34" charset="0"/>
                <a:cs typeface="Arial" panose="020B0604020202020204" pitchFamily="34" charset="0"/>
              </a:rPr>
              <a:t>Supervisor: </a:t>
            </a:r>
            <a:r>
              <a:rPr lang="en-US" sz="3800" b="1" dirty="0" err="1">
                <a:latin typeface="Arial" panose="020B0604020202020204" pitchFamily="34" charset="0"/>
                <a:cs typeface="Arial" panose="020B0604020202020204" pitchFamily="34" charset="0"/>
              </a:rPr>
              <a:t>Ms.Fatin</a:t>
            </a:r>
            <a:r>
              <a:rPr lang="en-US" sz="3800" b="1" dirty="0">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Izzati</a:t>
            </a:r>
            <a:r>
              <a:rPr lang="en-US" sz="3800" b="1" dirty="0">
                <a:latin typeface="Arial" panose="020B0604020202020204" pitchFamily="34" charset="0"/>
                <a:cs typeface="Arial" panose="020B0604020202020204" pitchFamily="34" charset="0"/>
              </a:rPr>
              <a:t> Ramli</a:t>
            </a:r>
            <a:endParaRPr lang="en-US" sz="3800" b="1" dirty="0"/>
          </a:p>
          <a:p>
            <a:pPr algn="ctr" eaLnBrk="1" hangingPunct="1"/>
            <a:endParaRPr lang="en-US" sz="3800" b="1" dirty="0">
              <a:solidFill>
                <a:schemeClr val="bg1"/>
              </a:solidFill>
              <a:latin typeface="+mj-lt"/>
            </a:endParaRPr>
          </a:p>
        </p:txBody>
      </p:sp>
      <p:sp>
        <p:nvSpPr>
          <p:cNvPr id="28" name="Rounded Rectangle 16">
            <a:extLst>
              <a:ext uri="{FF2B5EF4-FFF2-40B4-BE49-F238E27FC236}">
                <a16:creationId xmlns:a16="http://schemas.microsoft.com/office/drawing/2014/main" id="{6B83C691-7C11-4E2E-BF16-9DC63C51C6D5}"/>
              </a:ext>
            </a:extLst>
          </p:cNvPr>
          <p:cNvSpPr/>
          <p:nvPr/>
        </p:nvSpPr>
        <p:spPr>
          <a:xfrm>
            <a:off x="364596" y="6790604"/>
            <a:ext cx="10526662" cy="4101152"/>
          </a:xfrm>
          <a:prstGeom prst="roundRect">
            <a:avLst>
              <a:gd name="adj" fmla="val 892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The optimization of trading strategies in volatile cryptocurrency markets remains a significant challenge due to the complex dynamics and unpredictable nature of financial data. Traditional methods often fail to adequately capture and leverage patterns in large datasets, resulting in suboptimal trading performance and increased risk.</a:t>
            </a:r>
            <a:endParaRPr lang="en-MY" sz="2300" dirty="0">
              <a:latin typeface="Times New Roman" panose="02020603050405020304" pitchFamily="18" charset="0"/>
              <a:cs typeface="Times New Roman" panose="02020603050405020304" pitchFamily="18" charset="0"/>
            </a:endParaRPr>
          </a:p>
          <a:p>
            <a:pPr algn="just"/>
            <a:endParaRPr lang="en-US" sz="2300" dirty="0">
              <a:latin typeface="Times New Roman" panose="02020603050405020304" pitchFamily="18" charset="0"/>
              <a:cs typeface="Times New Roman" panose="02020603050405020304" pitchFamily="18" charset="0"/>
            </a:endParaRPr>
          </a:p>
          <a:p>
            <a:pPr algn="just"/>
            <a:r>
              <a:rPr lang="en-US" sz="2300" b="1" dirty="0">
                <a:latin typeface="Times New Roman" panose="02020603050405020304" pitchFamily="18" charset="0"/>
                <a:cs typeface="Times New Roman" panose="02020603050405020304" pitchFamily="18" charset="0"/>
              </a:rPr>
              <a:t>Question Approach:</a:t>
            </a:r>
            <a:r>
              <a:rPr lang="en-US" sz="2300" dirty="0">
                <a:latin typeface="Times New Roman" panose="02020603050405020304" pitchFamily="18" charset="0"/>
                <a:cs typeface="Times New Roman" panose="02020603050405020304" pitchFamily="18" charset="0"/>
              </a:rPr>
              <a:t> How can we enhance the optimization of trading strategies in volatile cryptocurrency markets using advanced data science techniques and visualization methods to improve decision-making and risk-adjusted returns?</a:t>
            </a: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marL="331054" indent="-331054" algn="just">
              <a:buFont typeface="+mj-lt"/>
              <a:buAutoNum type="arabicPeriod"/>
            </a:pPr>
            <a:endParaRPr lang="en-MY" sz="2059" dirty="0">
              <a:latin typeface="Times New Roman" panose="02020603050405020304" pitchFamily="18" charset="0"/>
              <a:cs typeface="Times New Roman" panose="02020603050405020304" pitchFamily="18" charset="0"/>
            </a:endParaRPr>
          </a:p>
          <a:p>
            <a:pPr algn="just"/>
            <a:r>
              <a:rPr lang="en-MY" sz="2059" dirty="0">
                <a:latin typeface="Times New Roman" panose="02020603050405020304" pitchFamily="18" charset="0"/>
                <a:cs typeface="Times New Roman" panose="02020603050405020304" pitchFamily="18" charset="0"/>
              </a:rPr>
              <a:t>	</a:t>
            </a:r>
          </a:p>
          <a:p>
            <a:pPr algn="just"/>
            <a:endParaRPr lang="en-MY" sz="2059" dirty="0">
              <a:latin typeface="Times New Roman" panose="02020603050405020304" pitchFamily="18" charset="0"/>
              <a:cs typeface="Times New Roman" panose="02020603050405020304" pitchFamily="18" charset="0"/>
            </a:endParaRPr>
          </a:p>
        </p:txBody>
      </p:sp>
      <p:sp>
        <p:nvSpPr>
          <p:cNvPr id="29" name="Rectangle 45">
            <a:extLst>
              <a:ext uri="{FF2B5EF4-FFF2-40B4-BE49-F238E27FC236}">
                <a16:creationId xmlns:a16="http://schemas.microsoft.com/office/drawing/2014/main" id="{DD0D6802-8ACC-4B00-A7F6-56A5343EE144}"/>
              </a:ext>
            </a:extLst>
          </p:cNvPr>
          <p:cNvSpPr/>
          <p:nvPr/>
        </p:nvSpPr>
        <p:spPr>
          <a:xfrm>
            <a:off x="2796643" y="6814740"/>
            <a:ext cx="5988369" cy="452962"/>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Problem Statement</a:t>
            </a:r>
          </a:p>
        </p:txBody>
      </p:sp>
      <p:sp>
        <p:nvSpPr>
          <p:cNvPr id="30" name="Rounded Rectangle 40">
            <a:extLst>
              <a:ext uri="{FF2B5EF4-FFF2-40B4-BE49-F238E27FC236}">
                <a16:creationId xmlns:a16="http://schemas.microsoft.com/office/drawing/2014/main" id="{63F9D9F8-C0C2-4677-89F5-C6067EE97015}"/>
              </a:ext>
            </a:extLst>
          </p:cNvPr>
          <p:cNvSpPr/>
          <p:nvPr/>
        </p:nvSpPr>
        <p:spPr>
          <a:xfrm>
            <a:off x="364593" y="11229666"/>
            <a:ext cx="10526663" cy="3710879"/>
          </a:xfrm>
          <a:prstGeom prst="roundRect">
            <a:avLst>
              <a:gd name="adj" fmla="val 14538"/>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lvl="0"/>
            <a:endParaRPr lang="en-MY" sz="2350" dirty="0">
              <a:solidFill>
                <a:prstClr val="black"/>
              </a:solidFill>
              <a:latin typeface="Times New Roman" panose="02020603050405020304" pitchFamily="18" charset="0"/>
              <a:cs typeface="Times New Roman" panose="02020603050405020304" pitchFamily="18" charset="0"/>
            </a:endParaRPr>
          </a:p>
          <a:p>
            <a:pPr marL="457200" lvl="0" indent="-457200">
              <a:lnSpc>
                <a:spcPct val="150000"/>
              </a:lnSpc>
              <a:buAutoNum type="arabicPeriod"/>
            </a:pPr>
            <a:r>
              <a:rPr lang="en-US" sz="2400" dirty="0">
                <a:latin typeface="Times New Roman" panose="02020603050405020304" pitchFamily="18" charset="0"/>
                <a:cs typeface="Times New Roman" panose="02020603050405020304" pitchFamily="18" charset="0"/>
              </a:rPr>
              <a:t>To apply Bayesian Optimization and Grid Search CV for parameter tuning of trading strategies.</a:t>
            </a:r>
            <a:r>
              <a:rPr lang="en-MY" sz="2400" dirty="0">
                <a:solidFill>
                  <a:prstClr val="black"/>
                </a:solidFill>
                <a:latin typeface="Times New Roman" panose="02020603050405020304" pitchFamily="18" charset="0"/>
                <a:cs typeface="Times New Roman" panose="02020603050405020304" pitchFamily="18" charset="0"/>
              </a:rPr>
              <a:t> </a:t>
            </a:r>
          </a:p>
          <a:p>
            <a:pPr marL="457200" lvl="0" indent="-457200">
              <a:lnSpc>
                <a:spcPct val="150000"/>
              </a:lnSpc>
              <a:buAutoNum type="arabicPeriod"/>
            </a:pPr>
            <a:r>
              <a:rPr lang="en-US" sz="2400" dirty="0">
                <a:latin typeface="Times New Roman" panose="02020603050405020304" pitchFamily="18" charset="0"/>
                <a:cs typeface="Times New Roman" panose="02020603050405020304" pitchFamily="18" charset="0"/>
              </a:rPr>
              <a:t>To utilize 3D visualization techniques for intuitive understanding and analysis of complex trading data</a:t>
            </a:r>
            <a:endParaRPr lang="en-MY" sz="2400" dirty="0">
              <a:solidFill>
                <a:prstClr val="black"/>
              </a:solidFill>
              <a:latin typeface="Times New Roman" panose="02020603050405020304" pitchFamily="18" charset="0"/>
              <a:cs typeface="Times New Roman" panose="02020603050405020304" pitchFamily="18" charset="0"/>
            </a:endParaRPr>
          </a:p>
          <a:p>
            <a:pPr marL="457200" lvl="0" indent="-457200">
              <a:lnSpc>
                <a:spcPct val="150000"/>
              </a:lnSpc>
              <a:buAutoNum type="arabicPeriod"/>
            </a:pPr>
            <a:r>
              <a:rPr lang="en-US" sz="2400" dirty="0">
                <a:latin typeface="Times New Roman" panose="02020603050405020304" pitchFamily="18" charset="0"/>
                <a:cs typeface="Times New Roman" panose="02020603050405020304" pitchFamily="18" charset="0"/>
              </a:rPr>
              <a:t>To improve the risk-adjusted returns of trading strategies, as measured by the Sharpe Ratio.</a:t>
            </a:r>
            <a:endParaRPr lang="en-MY" sz="2400" dirty="0">
              <a:solidFill>
                <a:prstClr val="black"/>
              </a:solidFill>
              <a:latin typeface="Times New Roman" panose="02020603050405020304" pitchFamily="18" charset="0"/>
              <a:cs typeface="Times New Roman" panose="02020603050405020304" pitchFamily="18" charset="0"/>
            </a:endParaRPr>
          </a:p>
        </p:txBody>
      </p:sp>
      <p:sp>
        <p:nvSpPr>
          <p:cNvPr id="31" name="Rectangle 45">
            <a:extLst>
              <a:ext uri="{FF2B5EF4-FFF2-40B4-BE49-F238E27FC236}">
                <a16:creationId xmlns:a16="http://schemas.microsoft.com/office/drawing/2014/main" id="{AF6BA543-9972-47B1-92E7-4F61546D7E9D}"/>
              </a:ext>
            </a:extLst>
          </p:cNvPr>
          <p:cNvSpPr/>
          <p:nvPr/>
        </p:nvSpPr>
        <p:spPr>
          <a:xfrm>
            <a:off x="3663126" y="11233887"/>
            <a:ext cx="4380310" cy="544765"/>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Objectives</a:t>
            </a:r>
          </a:p>
        </p:txBody>
      </p:sp>
      <p:sp>
        <p:nvSpPr>
          <p:cNvPr id="32" name="Rounded Rectangle 52">
            <a:extLst>
              <a:ext uri="{FF2B5EF4-FFF2-40B4-BE49-F238E27FC236}">
                <a16:creationId xmlns:a16="http://schemas.microsoft.com/office/drawing/2014/main" id="{3550BB62-529D-4AFF-95C5-991F5DB55BA9}"/>
              </a:ext>
            </a:extLst>
          </p:cNvPr>
          <p:cNvSpPr/>
          <p:nvPr/>
        </p:nvSpPr>
        <p:spPr>
          <a:xfrm>
            <a:off x="292184" y="15278457"/>
            <a:ext cx="10623208" cy="11899338"/>
          </a:xfrm>
          <a:prstGeom prst="roundRect">
            <a:avLst>
              <a:gd name="adj" fmla="val 6496"/>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MY" sz="3210" dirty="0">
              <a:latin typeface="Times New Roman" panose="02020603050405020304" pitchFamily="18" charset="0"/>
              <a:cs typeface="Times New Roman" panose="02020603050405020304" pitchFamily="18" charset="0"/>
            </a:endParaRPr>
          </a:p>
          <a:p>
            <a:pPr algn="just"/>
            <a:endParaRPr lang="en-MY" sz="802" dirty="0">
              <a:latin typeface="Times New Roman" panose="02020603050405020304" pitchFamily="18" charset="0"/>
              <a:cs typeface="Times New Roman" panose="02020603050405020304" pitchFamily="18" charset="0"/>
            </a:endParaRPr>
          </a:p>
        </p:txBody>
      </p:sp>
      <p:sp>
        <p:nvSpPr>
          <p:cNvPr id="33" name="Rectangle 45">
            <a:extLst>
              <a:ext uri="{FF2B5EF4-FFF2-40B4-BE49-F238E27FC236}">
                <a16:creationId xmlns:a16="http://schemas.microsoft.com/office/drawing/2014/main" id="{00E38DF4-C562-4DD2-BB64-EB7DF613A95B}"/>
              </a:ext>
            </a:extLst>
          </p:cNvPr>
          <p:cNvSpPr/>
          <p:nvPr/>
        </p:nvSpPr>
        <p:spPr>
          <a:xfrm>
            <a:off x="2674740" y="15303657"/>
            <a:ext cx="6357075" cy="625722"/>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Design and Methodology</a:t>
            </a:r>
          </a:p>
        </p:txBody>
      </p:sp>
      <p:sp>
        <p:nvSpPr>
          <p:cNvPr id="34" name="Rounded Rectangle 55">
            <a:extLst>
              <a:ext uri="{FF2B5EF4-FFF2-40B4-BE49-F238E27FC236}">
                <a16:creationId xmlns:a16="http://schemas.microsoft.com/office/drawing/2014/main" id="{D4D8F02E-FDB3-42A3-8587-D08B18496963}"/>
              </a:ext>
            </a:extLst>
          </p:cNvPr>
          <p:cNvSpPr/>
          <p:nvPr/>
        </p:nvSpPr>
        <p:spPr>
          <a:xfrm>
            <a:off x="11192922" y="6771961"/>
            <a:ext cx="9835695" cy="17012991"/>
          </a:xfrm>
          <a:prstGeom prst="roundRect">
            <a:avLst>
              <a:gd name="adj" fmla="val 5110"/>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lvl="0" algn="just"/>
            <a:endParaRPr lang="en-MY" sz="2809" dirty="0">
              <a:solidFill>
                <a:prstClr val="black"/>
              </a:solidFill>
              <a:latin typeface="Times New Roman" panose="02020603050405020304" pitchFamily="18" charset="0"/>
              <a:cs typeface="Times New Roman" panose="02020603050405020304" pitchFamily="18" charset="0"/>
            </a:endParaRPr>
          </a:p>
          <a:p>
            <a:pPr lvl="0" algn="just"/>
            <a:endParaRPr lang="en-MY" sz="2809" dirty="0">
              <a:solidFill>
                <a:prstClr val="black"/>
              </a:solidFill>
              <a:latin typeface="Times New Roman" panose="02020603050405020304" pitchFamily="18" charset="0"/>
              <a:cs typeface="Times New Roman" panose="02020603050405020304" pitchFamily="18" charset="0"/>
            </a:endParaRPr>
          </a:p>
          <a:p>
            <a:pPr lvl="0" algn="just"/>
            <a:endParaRPr lang="en-US" sz="1806" dirty="0">
              <a:solidFill>
                <a:prstClr val="black"/>
              </a:solidFill>
              <a:latin typeface="Times New Roman" panose="02020603050405020304" pitchFamily="18" charset="0"/>
              <a:cs typeface="Times New Roman" panose="02020603050405020304" pitchFamily="18" charset="0"/>
            </a:endParaRPr>
          </a:p>
          <a:p>
            <a:pPr lvl="0" algn="ctr"/>
            <a:r>
              <a:rPr lang="en-MY" sz="2809" b="1" dirty="0">
                <a:solidFill>
                  <a:prstClr val="black"/>
                </a:solidFill>
                <a:latin typeface="Times New Roman" panose="02020603050405020304" pitchFamily="18" charset="0"/>
                <a:cs typeface="Times New Roman" panose="02020603050405020304" pitchFamily="18" charset="0"/>
              </a:rPr>
              <a:t>			</a:t>
            </a:r>
            <a:r>
              <a:rPr lang="en-MY" sz="2500" dirty="0">
                <a:solidFill>
                  <a:prstClr val="black"/>
                </a:solidFill>
                <a:latin typeface="Times New Roman" panose="02020603050405020304" pitchFamily="18" charset="0"/>
                <a:cs typeface="Times New Roman" panose="02020603050405020304" pitchFamily="18" charset="0"/>
              </a:rPr>
              <a:t>														</a:t>
            </a:r>
            <a:endParaRPr lang="en-US" sz="2500" b="1" dirty="0">
              <a:solidFill>
                <a:prstClr val="black"/>
              </a:solidFill>
              <a:latin typeface="Times New Roman" panose="02020603050405020304" pitchFamily="18" charset="0"/>
              <a:cs typeface="Times New Roman" panose="02020603050405020304" pitchFamily="18" charset="0"/>
            </a:endParaRPr>
          </a:p>
          <a:p>
            <a:pPr lvl="0" algn="just"/>
            <a:endParaRPr lang="en-US" sz="2500" b="1" dirty="0">
              <a:solidFill>
                <a:prstClr val="black"/>
              </a:solidFill>
              <a:latin typeface="Times New Roman" panose="02020603050405020304" pitchFamily="18" charset="0"/>
              <a:cs typeface="Times New Roman" panose="02020603050405020304" pitchFamily="18" charset="0"/>
            </a:endParaRPr>
          </a:p>
          <a:p>
            <a:pPr lvl="0" algn="just"/>
            <a:endParaRPr lang="en-US" sz="2500" b="1" dirty="0">
              <a:solidFill>
                <a:prstClr val="black"/>
              </a:solidFill>
              <a:latin typeface="Times New Roman" panose="02020603050405020304" pitchFamily="18" charset="0"/>
              <a:cs typeface="Times New Roman" panose="02020603050405020304" pitchFamily="18" charset="0"/>
            </a:endParaRPr>
          </a:p>
          <a:p>
            <a:pPr lvl="0" algn="just"/>
            <a:endParaRPr lang="en-US" sz="2500" b="1" dirty="0">
              <a:solidFill>
                <a:prstClr val="black"/>
              </a:solidFill>
              <a:latin typeface="Times New Roman" panose="02020603050405020304" pitchFamily="18" charset="0"/>
              <a:cs typeface="Times New Roman" panose="02020603050405020304" pitchFamily="18" charset="0"/>
            </a:endParaRPr>
          </a:p>
          <a:p>
            <a:pPr lvl="0" algn="just"/>
            <a:endParaRPr lang="en-MY" sz="2500" dirty="0">
              <a:solidFill>
                <a:prstClr val="black"/>
              </a:solidFill>
              <a:latin typeface="Times New Roman" panose="02020603050405020304" pitchFamily="18" charset="0"/>
              <a:cs typeface="Times New Roman" panose="02020603050405020304" pitchFamily="18" charset="0"/>
            </a:endParaRPr>
          </a:p>
          <a:p>
            <a:pPr lvl="0" algn="just"/>
            <a:endParaRPr lang="en-MY" sz="2809" dirty="0">
              <a:solidFill>
                <a:prstClr val="black"/>
              </a:solidFill>
              <a:latin typeface="Times New Roman" panose="02020603050405020304" pitchFamily="18" charset="0"/>
              <a:cs typeface="Times New Roman" panose="02020603050405020304" pitchFamily="18" charset="0"/>
            </a:endParaRPr>
          </a:p>
          <a:p>
            <a:pPr lvl="0" algn="ctr"/>
            <a:endParaRPr lang="en-MY" sz="2500" b="1" dirty="0">
              <a:solidFill>
                <a:prstClr val="black"/>
              </a:solidFill>
              <a:latin typeface="Times New Roman" panose="02020603050405020304" pitchFamily="18" charset="0"/>
              <a:cs typeface="Times New Roman" panose="02020603050405020304" pitchFamily="18" charset="0"/>
            </a:endParaRPr>
          </a:p>
          <a:p>
            <a:pPr lvl="0" algn="ctr"/>
            <a:endParaRPr lang="en-MY" sz="2809" b="1" dirty="0">
              <a:solidFill>
                <a:prstClr val="black"/>
              </a:solidFill>
              <a:latin typeface="Times New Roman" panose="02020603050405020304" pitchFamily="18" charset="0"/>
              <a:cs typeface="Times New Roman" panose="02020603050405020304" pitchFamily="18" charset="0"/>
            </a:endParaRPr>
          </a:p>
          <a:p>
            <a:pPr lvl="0" algn="ctr"/>
            <a:r>
              <a:rPr lang="en-US" sz="2500" dirty="0">
                <a:latin typeface="Times New Roman" panose="02020603050405020304" pitchFamily="18" charset="0"/>
                <a:cs typeface="Times New Roman" panose="02020603050405020304" pitchFamily="18" charset="0"/>
              </a:rPr>
              <a:t>		</a:t>
            </a:r>
          </a:p>
        </p:txBody>
      </p:sp>
      <p:sp>
        <p:nvSpPr>
          <p:cNvPr id="35" name="Rectangle 45">
            <a:extLst>
              <a:ext uri="{FF2B5EF4-FFF2-40B4-BE49-F238E27FC236}">
                <a16:creationId xmlns:a16="http://schemas.microsoft.com/office/drawing/2014/main" id="{732D269E-EAED-46D8-B029-93EC1C182997}"/>
              </a:ext>
            </a:extLst>
          </p:cNvPr>
          <p:cNvSpPr/>
          <p:nvPr/>
        </p:nvSpPr>
        <p:spPr>
          <a:xfrm>
            <a:off x="12540346" y="6810420"/>
            <a:ext cx="6768407" cy="669759"/>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Construction and Testing</a:t>
            </a:r>
          </a:p>
        </p:txBody>
      </p:sp>
      <p:sp>
        <p:nvSpPr>
          <p:cNvPr id="38" name="Rounded Rectangle 99">
            <a:extLst>
              <a:ext uri="{FF2B5EF4-FFF2-40B4-BE49-F238E27FC236}">
                <a16:creationId xmlns:a16="http://schemas.microsoft.com/office/drawing/2014/main" id="{A73AA9CA-E542-4E1D-AC89-2F72ED7DF51F}"/>
              </a:ext>
            </a:extLst>
          </p:cNvPr>
          <p:cNvSpPr/>
          <p:nvPr/>
        </p:nvSpPr>
        <p:spPr>
          <a:xfrm>
            <a:off x="340457" y="27428386"/>
            <a:ext cx="20704942" cy="2514141"/>
          </a:xfrm>
          <a:prstGeom prst="roundRect">
            <a:avLst>
              <a:gd name="adj" fmla="val 2524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US" sz="2059" dirty="0">
              <a:latin typeface="Times New Roman" panose="02020603050405020304" pitchFamily="18" charset="0"/>
              <a:cs typeface="Times New Roman" panose="02020603050405020304" pitchFamily="18" charset="0"/>
            </a:endParaRPr>
          </a:p>
          <a:p>
            <a:pPr algn="just"/>
            <a:endParaRPr lang="en-US" sz="2809"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project successfully achieved its objectives by integrating Bayesian Optimization and Grid Search CV to enhance trading strategy performance. The design combined these optimization techniques with 3D visualization, providing deep insights into trading data and strategy effectiveness. Key outputs include an improved platform for trading strategy optimization, significantly advancing the field of financial technology by optimizing risk-adjusted returns and delivering dynamic visual analytics.</a:t>
            </a:r>
          </a:p>
        </p:txBody>
      </p:sp>
      <p:sp>
        <p:nvSpPr>
          <p:cNvPr id="40" name="Rectangle 45">
            <a:extLst>
              <a:ext uri="{FF2B5EF4-FFF2-40B4-BE49-F238E27FC236}">
                <a16:creationId xmlns:a16="http://schemas.microsoft.com/office/drawing/2014/main" id="{76CEA224-011D-4C17-B040-B24A366DB603}"/>
              </a:ext>
            </a:extLst>
          </p:cNvPr>
          <p:cNvSpPr/>
          <p:nvPr/>
        </p:nvSpPr>
        <p:spPr>
          <a:xfrm>
            <a:off x="8183691" y="27443297"/>
            <a:ext cx="4719126" cy="568011"/>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Conclusion</a:t>
            </a:r>
          </a:p>
        </p:txBody>
      </p:sp>
      <p:sp>
        <p:nvSpPr>
          <p:cNvPr id="43" name="Rounded Rectangle 105">
            <a:extLst>
              <a:ext uri="{FF2B5EF4-FFF2-40B4-BE49-F238E27FC236}">
                <a16:creationId xmlns:a16="http://schemas.microsoft.com/office/drawing/2014/main" id="{4A11D9AC-7DFD-4812-96DC-D00341408C6B}"/>
              </a:ext>
            </a:extLst>
          </p:cNvPr>
          <p:cNvSpPr/>
          <p:nvPr/>
        </p:nvSpPr>
        <p:spPr>
          <a:xfrm>
            <a:off x="11192929" y="24035520"/>
            <a:ext cx="9835691" cy="3142275"/>
          </a:xfrm>
          <a:prstGeom prst="roundRect">
            <a:avLst>
              <a:gd name="adj" fmla="val 18379"/>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marL="342900" lvl="0" indent="-342900" algn="just">
              <a:buAutoNum type="arabicPeriod"/>
            </a:pPr>
            <a:endParaRPr lang="en-US" sz="2300" dirty="0">
              <a:latin typeface="Times New Roman" panose="02020603050405020304" pitchFamily="18" charset="0"/>
              <a:cs typeface="Times New Roman" panose="02020603050405020304" pitchFamily="18" charset="0"/>
            </a:endParaRPr>
          </a:p>
          <a:p>
            <a:pPr marL="342900" lvl="0" indent="-342900" algn="just">
              <a:buAutoNum type="arabicPeriod"/>
            </a:pPr>
            <a:endParaRPr lang="en-US" sz="2300" dirty="0">
              <a:latin typeface="Times New Roman" panose="02020603050405020304" pitchFamily="18" charset="0"/>
              <a:cs typeface="Times New Roman" panose="02020603050405020304" pitchFamily="18" charset="0"/>
            </a:endParaRPr>
          </a:p>
          <a:p>
            <a:pPr marL="342900" lvl="0" indent="-342900" algn="just">
              <a:buAutoNum type="arabicPeriod"/>
            </a:pPr>
            <a:r>
              <a:rPr lang="en-US" sz="2300" dirty="0">
                <a:latin typeface="Times New Roman" panose="02020603050405020304" pitchFamily="18" charset="0"/>
                <a:cs typeface="Times New Roman" panose="02020603050405020304" pitchFamily="18" charset="0"/>
              </a:rPr>
              <a:t>Enhances trading software and services, boosting profitability and market efficiency.</a:t>
            </a:r>
          </a:p>
          <a:p>
            <a:pPr marL="342900" lvl="0" indent="-342900" algn="just">
              <a:buAutoNum type="arabicPeriod"/>
            </a:pPr>
            <a:r>
              <a:rPr lang="en-US" sz="2300" dirty="0">
                <a:latin typeface="Times New Roman" panose="02020603050405020304" pitchFamily="18" charset="0"/>
                <a:cs typeface="Times New Roman" panose="02020603050405020304" pitchFamily="18" charset="0"/>
              </a:rPr>
              <a:t>Increases transparency and trust in financial markets through clearer trading strategies.</a:t>
            </a:r>
          </a:p>
          <a:p>
            <a:pPr marL="342900" lvl="0" indent="-342900" algn="just">
              <a:buAutoNum type="arabicPeriod"/>
            </a:pPr>
            <a:r>
              <a:rPr lang="en-US" sz="2300" dirty="0">
                <a:latin typeface="Times New Roman" panose="02020603050405020304" pitchFamily="18" charset="0"/>
                <a:cs typeface="Times New Roman" panose="02020603050405020304" pitchFamily="18" charset="0"/>
              </a:rPr>
              <a:t>Leverages advanced data science and 3D visualization to innovate in financial technology.</a:t>
            </a:r>
            <a:endParaRPr lang="en-US" sz="2300" dirty="0">
              <a:solidFill>
                <a:prstClr val="black"/>
              </a:solidFill>
              <a:latin typeface="Times New Roman" panose="02020603050405020304" pitchFamily="18" charset="0"/>
              <a:cs typeface="Times New Roman" panose="02020603050405020304" pitchFamily="18" charset="0"/>
            </a:endParaRPr>
          </a:p>
        </p:txBody>
      </p:sp>
      <p:sp>
        <p:nvSpPr>
          <p:cNvPr id="44" name="Rectangle 45">
            <a:extLst>
              <a:ext uri="{FF2B5EF4-FFF2-40B4-BE49-F238E27FC236}">
                <a16:creationId xmlns:a16="http://schemas.microsoft.com/office/drawing/2014/main" id="{949CD7AD-B889-43E8-A6DF-BF2E82F93177}"/>
              </a:ext>
            </a:extLst>
          </p:cNvPr>
          <p:cNvSpPr/>
          <p:nvPr/>
        </p:nvSpPr>
        <p:spPr>
          <a:xfrm>
            <a:off x="13644670" y="24136583"/>
            <a:ext cx="5078020" cy="626648"/>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Contribution</a:t>
            </a:r>
          </a:p>
        </p:txBody>
      </p:sp>
      <p:sp>
        <p:nvSpPr>
          <p:cNvPr id="46" name="Rounded Rectangle 92">
            <a:extLst>
              <a:ext uri="{FF2B5EF4-FFF2-40B4-BE49-F238E27FC236}">
                <a16:creationId xmlns:a16="http://schemas.microsoft.com/office/drawing/2014/main" id="{37F320E0-F1AA-4502-9EB4-42E1196815D4}"/>
              </a:ext>
            </a:extLst>
          </p:cNvPr>
          <p:cNvSpPr/>
          <p:nvPr/>
        </p:nvSpPr>
        <p:spPr>
          <a:xfrm>
            <a:off x="300622" y="4171988"/>
            <a:ext cx="20727998" cy="2323817"/>
          </a:xfrm>
          <a:prstGeom prst="roundRect">
            <a:avLst>
              <a:gd name="adj" fmla="val 892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MY" sz="2500" dirty="0">
              <a:latin typeface="Times New Roman" panose="02020603050405020304" pitchFamily="18" charset="0"/>
              <a:cs typeface="Times New Roman" panose="02020603050405020304" pitchFamily="18" charset="0"/>
            </a:endParaRPr>
          </a:p>
          <a:p>
            <a:pPr lvl="0" algn="just"/>
            <a:r>
              <a:rPr lang="en-US" sz="2500" dirty="0">
                <a:latin typeface="Times New Roman" panose="02020603050405020304" pitchFamily="18" charset="0"/>
                <a:cs typeface="Times New Roman" panose="02020603050405020304" pitchFamily="18" charset="0"/>
              </a:rPr>
              <a:t>This project addresses the challenge of optimizing quantitative trading strategies using advanced </a:t>
            </a:r>
            <a:r>
              <a:rPr lang="en-US" sz="2500" b="1" dirty="0">
                <a:latin typeface="Times New Roman" panose="02020603050405020304" pitchFamily="18" charset="0"/>
                <a:cs typeface="Times New Roman" panose="02020603050405020304" pitchFamily="18" charset="0"/>
              </a:rPr>
              <a:t>data visualization and optimization techniques</a:t>
            </a:r>
            <a:r>
              <a:rPr lang="en-US" sz="2500" dirty="0">
                <a:latin typeface="Times New Roman" panose="02020603050405020304" pitchFamily="18" charset="0"/>
                <a:cs typeface="Times New Roman" panose="02020603050405020304" pitchFamily="18" charset="0"/>
              </a:rPr>
              <a:t>. The objective is to enhance trading decisions by applying </a:t>
            </a:r>
            <a:r>
              <a:rPr lang="en-US" sz="2500" b="1" dirty="0">
                <a:latin typeface="Times New Roman" panose="02020603050405020304" pitchFamily="18" charset="0"/>
                <a:cs typeface="Times New Roman" panose="02020603050405020304" pitchFamily="18" charset="0"/>
              </a:rPr>
              <a:t>Bayesian Optimization</a:t>
            </a:r>
            <a:r>
              <a:rPr lang="en-US" sz="2500" dirty="0">
                <a:latin typeface="Times New Roman" panose="02020603050405020304" pitchFamily="18" charset="0"/>
                <a:cs typeface="Times New Roman" panose="02020603050405020304" pitchFamily="18" charset="0"/>
              </a:rPr>
              <a:t> and </a:t>
            </a:r>
            <a:r>
              <a:rPr lang="en-US" sz="2500" b="1" dirty="0">
                <a:latin typeface="Times New Roman" panose="02020603050405020304" pitchFamily="18" charset="0"/>
                <a:cs typeface="Times New Roman" panose="02020603050405020304" pitchFamily="18" charset="0"/>
              </a:rPr>
              <a:t>Grid Search Cross-Validation (CV) </a:t>
            </a:r>
            <a:r>
              <a:rPr lang="en-US" sz="2500" dirty="0">
                <a:latin typeface="Times New Roman" panose="02020603050405020304" pitchFamily="18" charset="0"/>
                <a:cs typeface="Times New Roman" panose="02020603050405020304" pitchFamily="18" charset="0"/>
              </a:rPr>
              <a:t>to maximize the Sharpe Ratio, thereby identifying the most efficient trading strategies under varying market conditions. The methodology combines statistical analysis, machine learning, and</a:t>
            </a:r>
            <a:r>
              <a:rPr lang="en-US" sz="2500" b="1" dirty="0">
                <a:latin typeface="Times New Roman" panose="02020603050405020304" pitchFamily="18" charset="0"/>
                <a:cs typeface="Times New Roman" panose="02020603050405020304" pitchFamily="18" charset="0"/>
              </a:rPr>
              <a:t> 3D visualization </a:t>
            </a:r>
            <a:r>
              <a:rPr lang="en-US" sz="2500" dirty="0">
                <a:latin typeface="Times New Roman" panose="02020603050405020304" pitchFamily="18" charset="0"/>
                <a:cs typeface="Times New Roman" panose="02020603050405020304" pitchFamily="18" charset="0"/>
              </a:rPr>
              <a:t>to interpret complex data and improve strategy performance.</a:t>
            </a:r>
            <a:endParaRPr lang="en-GB" sz="2500" dirty="0">
              <a:solidFill>
                <a:prstClr val="black"/>
              </a:solidFill>
              <a:latin typeface="Times New Roman" panose="02020603050405020304" pitchFamily="18" charset="0"/>
              <a:cs typeface="Times New Roman" panose="02020603050405020304" pitchFamily="18" charset="0"/>
            </a:endParaRPr>
          </a:p>
        </p:txBody>
      </p:sp>
      <p:sp>
        <p:nvSpPr>
          <p:cNvPr id="47" name="Rectangle 45">
            <a:extLst>
              <a:ext uri="{FF2B5EF4-FFF2-40B4-BE49-F238E27FC236}">
                <a16:creationId xmlns:a16="http://schemas.microsoft.com/office/drawing/2014/main" id="{F0A059E9-EADC-4F4D-9143-6C93CCA91B02}"/>
              </a:ext>
            </a:extLst>
          </p:cNvPr>
          <p:cNvSpPr/>
          <p:nvPr/>
        </p:nvSpPr>
        <p:spPr>
          <a:xfrm>
            <a:off x="8429204" y="4189753"/>
            <a:ext cx="4861108" cy="548510"/>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15" b="1" dirty="0">
                <a:solidFill>
                  <a:schemeClr val="accent3">
                    <a:lumMod val="20000"/>
                    <a:lumOff val="80000"/>
                  </a:schemeClr>
                </a:solidFill>
              </a:rPr>
              <a:t>Abstract</a:t>
            </a:r>
          </a:p>
        </p:txBody>
      </p:sp>
      <p:pic>
        <p:nvPicPr>
          <p:cNvPr id="5" name="Picture 4">
            <a:extLst>
              <a:ext uri="{FF2B5EF4-FFF2-40B4-BE49-F238E27FC236}">
                <a16:creationId xmlns:a16="http://schemas.microsoft.com/office/drawing/2014/main" id="{F18437CA-B0A8-E015-1C3A-17DE05947CA4}"/>
              </a:ext>
            </a:extLst>
          </p:cNvPr>
          <p:cNvPicPr>
            <a:picLocks noChangeAspect="1"/>
          </p:cNvPicPr>
          <p:nvPr/>
        </p:nvPicPr>
        <p:blipFill>
          <a:blip r:embed="rId2"/>
          <a:stretch>
            <a:fillRect/>
          </a:stretch>
        </p:blipFill>
        <p:spPr>
          <a:xfrm>
            <a:off x="246321" y="624063"/>
            <a:ext cx="7860840" cy="2287075"/>
          </a:xfrm>
          <a:prstGeom prst="rect">
            <a:avLst/>
          </a:prstGeom>
        </p:spPr>
      </p:pic>
      <p:sp>
        <p:nvSpPr>
          <p:cNvPr id="7" name="TextBox 6">
            <a:extLst>
              <a:ext uri="{FF2B5EF4-FFF2-40B4-BE49-F238E27FC236}">
                <a16:creationId xmlns:a16="http://schemas.microsoft.com/office/drawing/2014/main" id="{507D3FD1-2C18-35EC-F26D-EB96D72191C0}"/>
              </a:ext>
            </a:extLst>
          </p:cNvPr>
          <p:cNvSpPr txBox="1"/>
          <p:nvPr/>
        </p:nvSpPr>
        <p:spPr>
          <a:xfrm>
            <a:off x="726831" y="16265484"/>
            <a:ext cx="9731619" cy="1862048"/>
          </a:xfrm>
          <a:prstGeom prst="rect">
            <a:avLst/>
          </a:prstGeom>
          <a:noFill/>
        </p:spPr>
        <p:txBody>
          <a:bodyPr wrap="square" rtlCol="0">
            <a:spAutoFit/>
          </a:bodyPr>
          <a:lstStyle/>
          <a:p>
            <a:pPr algn="just"/>
            <a:r>
              <a:rPr lang="en-US" sz="2300" dirty="0">
                <a:latin typeface="Times New Roman" panose="02020603050405020304" pitchFamily="18" charset="0"/>
                <a:cs typeface="Times New Roman" panose="02020603050405020304" pitchFamily="18" charset="0"/>
              </a:rPr>
              <a:t>The project’s design is centered around the development of a sophisticated 3D visualization tool that enables an intuitive exploration and optimization of trading parameters. This tool is designed to transform complex, high-dimensional data into a comprehensible and interactable visual format, which allows users to effectively perceive and manipulate the trading parameters in real-time.</a:t>
            </a:r>
            <a:endParaRPr lang="en-MY" sz="23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3E31D2A-EBF2-5E27-2F0D-9AB627CF21B0}"/>
              </a:ext>
            </a:extLst>
          </p:cNvPr>
          <p:cNvPicPr>
            <a:picLocks noChangeAspect="1"/>
          </p:cNvPicPr>
          <p:nvPr/>
        </p:nvPicPr>
        <p:blipFill>
          <a:blip r:embed="rId3"/>
          <a:stretch>
            <a:fillRect/>
          </a:stretch>
        </p:blipFill>
        <p:spPr>
          <a:xfrm>
            <a:off x="1999225" y="18489928"/>
            <a:ext cx="7257397" cy="2649302"/>
          </a:xfrm>
          <a:prstGeom prst="rect">
            <a:avLst/>
          </a:prstGeom>
        </p:spPr>
      </p:pic>
      <p:sp>
        <p:nvSpPr>
          <p:cNvPr id="12" name="TextBox 11">
            <a:extLst>
              <a:ext uri="{FF2B5EF4-FFF2-40B4-BE49-F238E27FC236}">
                <a16:creationId xmlns:a16="http://schemas.microsoft.com/office/drawing/2014/main" id="{D8D09193-1ECC-183E-A3AB-7B8C41AEC6AF}"/>
              </a:ext>
            </a:extLst>
          </p:cNvPr>
          <p:cNvSpPr txBox="1"/>
          <p:nvPr/>
        </p:nvSpPr>
        <p:spPr>
          <a:xfrm>
            <a:off x="3955958" y="21324712"/>
            <a:ext cx="3669737" cy="446276"/>
          </a:xfrm>
          <a:prstGeom prst="rect">
            <a:avLst/>
          </a:prstGeom>
          <a:noFill/>
        </p:spPr>
        <p:txBody>
          <a:bodyPr wrap="square" rtlCol="0">
            <a:spAutoFit/>
          </a:bodyPr>
          <a:lstStyle/>
          <a:p>
            <a:r>
              <a:rPr lang="en-MY" sz="2300" b="1" dirty="0">
                <a:solidFill>
                  <a:prstClr val="black"/>
                </a:solidFill>
                <a:latin typeface="Times New Roman" panose="02020603050405020304" pitchFamily="18" charset="0"/>
                <a:cs typeface="Times New Roman" panose="02020603050405020304" pitchFamily="18" charset="0"/>
              </a:rPr>
              <a:t>Figure 1: </a:t>
            </a:r>
            <a:r>
              <a:rPr lang="en-MY" sz="2300" dirty="0">
                <a:solidFill>
                  <a:prstClr val="black"/>
                </a:solidFill>
                <a:latin typeface="Times New Roman" panose="02020603050405020304" pitchFamily="18" charset="0"/>
                <a:cs typeface="Times New Roman" panose="02020603050405020304" pitchFamily="18" charset="0"/>
              </a:rPr>
              <a:t>System Flow Chart</a:t>
            </a:r>
            <a:endParaRPr lang="en-MY" sz="2300" dirty="0"/>
          </a:p>
        </p:txBody>
      </p:sp>
      <p:sp>
        <p:nvSpPr>
          <p:cNvPr id="13" name="TextBox 12">
            <a:extLst>
              <a:ext uri="{FF2B5EF4-FFF2-40B4-BE49-F238E27FC236}">
                <a16:creationId xmlns:a16="http://schemas.microsoft.com/office/drawing/2014/main" id="{7D0B0193-4073-FD2F-921B-297BCD4FCA30}"/>
              </a:ext>
            </a:extLst>
          </p:cNvPr>
          <p:cNvSpPr txBox="1"/>
          <p:nvPr/>
        </p:nvSpPr>
        <p:spPr>
          <a:xfrm>
            <a:off x="726831" y="22021579"/>
            <a:ext cx="9731619" cy="5047536"/>
          </a:xfrm>
          <a:prstGeom prst="rect">
            <a:avLst/>
          </a:prstGeom>
          <a:noFill/>
        </p:spPr>
        <p:txBody>
          <a:bodyPr wrap="square" rtlCol="0">
            <a:spAutoFit/>
          </a:bodyPr>
          <a:lstStyle/>
          <a:p>
            <a:pPr algn="just"/>
            <a:r>
              <a:rPr lang="en-US" sz="2300" dirty="0">
                <a:latin typeface="Times New Roman" panose="02020603050405020304" pitchFamily="18" charset="0"/>
                <a:cs typeface="Times New Roman" panose="02020603050405020304" pitchFamily="18" charset="0"/>
              </a:rPr>
              <a:t>The methodology of the project begins with the collection of historical Bitcoin price data from the </a:t>
            </a:r>
            <a:r>
              <a:rPr lang="en-US" sz="2300" dirty="0" err="1">
                <a:latin typeface="Times New Roman" panose="02020603050405020304" pitchFamily="18" charset="0"/>
                <a:cs typeface="Times New Roman" panose="02020603050405020304" pitchFamily="18" charset="0"/>
              </a:rPr>
              <a:t>CryptoCurrency</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eXchange</a:t>
            </a:r>
            <a:r>
              <a:rPr lang="en-US" sz="2300" dirty="0">
                <a:latin typeface="Times New Roman" panose="02020603050405020304" pitchFamily="18" charset="0"/>
                <a:cs typeface="Times New Roman" panose="02020603050405020304" pitchFamily="18" charset="0"/>
              </a:rPr>
              <a:t> Trading Library (CCXT), focusing on significant market events over the past four years. This data is then rigorously preprocessed to enhance its reliability for subsequent analysis, involving cleaning, filling missing values, aligning timestamps to UTC, and transforming prices into logarithmic returns. Various trading strategies, both mean-reversion and momentum-based, are developed using financial indicators like Bollinger Bands, RSI, moving averages, and MACD. These strategies undergo optimization through Bayesian Optimization and Grid Search CV to maximize performance metrics such as the Sharpe Ratio. The effectiveness of these strategies is assessed via </a:t>
            </a:r>
            <a:r>
              <a:rPr lang="en-US" sz="2300" dirty="0" err="1">
                <a:latin typeface="Times New Roman" panose="02020603050405020304" pitchFamily="18" charset="0"/>
                <a:cs typeface="Times New Roman" panose="02020603050405020304" pitchFamily="18" charset="0"/>
              </a:rPr>
              <a:t>backtesting</a:t>
            </a:r>
            <a:r>
              <a:rPr lang="en-US" sz="2300" dirty="0">
                <a:latin typeface="Times New Roman" panose="02020603050405020304" pitchFamily="18" charset="0"/>
                <a:cs typeface="Times New Roman" panose="02020603050405020304" pitchFamily="18" charset="0"/>
              </a:rPr>
              <a:t>, with results visualized through 3D graphs to analyze the impact of parameter changes. Finally, the strategies are tested in a live trading environment using the </a:t>
            </a:r>
            <a:r>
              <a:rPr lang="en-US" sz="2300" dirty="0" err="1">
                <a:latin typeface="Times New Roman" panose="02020603050405020304" pitchFamily="18" charset="0"/>
                <a:cs typeface="Times New Roman" panose="02020603050405020304" pitchFamily="18" charset="0"/>
              </a:rPr>
              <a:t>Cybotrade</a:t>
            </a:r>
            <a:r>
              <a:rPr lang="en-US" sz="2300" dirty="0">
                <a:latin typeface="Times New Roman" panose="02020603050405020304" pitchFamily="18" charset="0"/>
                <a:cs typeface="Times New Roman" panose="02020603050405020304" pitchFamily="18" charset="0"/>
              </a:rPr>
              <a:t> Cloud to ensure they are robust and effective under real-world market conditions.</a:t>
            </a:r>
            <a:endParaRPr lang="en-MY" sz="23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E1AE6392-7CEF-9B53-2614-53AB322A3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2817" y="7867637"/>
            <a:ext cx="6768408" cy="5640340"/>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0E2691D4-865F-BD1E-7EF7-AA3B073F96B4}"/>
              </a:ext>
            </a:extLst>
          </p:cNvPr>
          <p:cNvSpPr txBox="1"/>
          <p:nvPr/>
        </p:nvSpPr>
        <p:spPr>
          <a:xfrm>
            <a:off x="14205058" y="13603744"/>
            <a:ext cx="5103695" cy="446276"/>
          </a:xfrm>
          <a:prstGeom prst="rect">
            <a:avLst/>
          </a:prstGeom>
          <a:noFill/>
        </p:spPr>
        <p:txBody>
          <a:bodyPr wrap="square" rtlCol="0">
            <a:spAutoFit/>
          </a:bodyPr>
          <a:lstStyle/>
          <a:p>
            <a:r>
              <a:rPr lang="en-MY" sz="2300" b="1" dirty="0">
                <a:solidFill>
                  <a:prstClr val="black"/>
                </a:solidFill>
                <a:latin typeface="Times New Roman" panose="02020603050405020304" pitchFamily="18" charset="0"/>
                <a:cs typeface="Times New Roman" panose="02020603050405020304" pitchFamily="18" charset="0"/>
              </a:rPr>
              <a:t>Figure 2: </a:t>
            </a:r>
            <a:r>
              <a:rPr lang="en-MY" sz="2300" dirty="0" err="1">
                <a:solidFill>
                  <a:prstClr val="black"/>
                </a:solidFill>
                <a:latin typeface="Times New Roman" panose="02020603050405020304" pitchFamily="18" charset="0"/>
                <a:cs typeface="Times New Roman" panose="02020603050405020304" pitchFamily="18" charset="0"/>
              </a:rPr>
              <a:t>Streamlit</a:t>
            </a:r>
            <a:r>
              <a:rPr lang="en-MY" sz="2300" b="1" dirty="0">
                <a:solidFill>
                  <a:prstClr val="black"/>
                </a:solidFill>
                <a:latin typeface="Times New Roman" panose="02020603050405020304" pitchFamily="18" charset="0"/>
                <a:cs typeface="Times New Roman" panose="02020603050405020304" pitchFamily="18" charset="0"/>
              </a:rPr>
              <a:t> </a:t>
            </a:r>
            <a:r>
              <a:rPr lang="en-MY" sz="2300" dirty="0">
                <a:solidFill>
                  <a:prstClr val="black"/>
                </a:solidFill>
                <a:latin typeface="Times New Roman" panose="02020603050405020304" pitchFamily="18" charset="0"/>
                <a:cs typeface="Times New Roman" panose="02020603050405020304" pitchFamily="18" charset="0"/>
              </a:rPr>
              <a:t>User Interface</a:t>
            </a:r>
            <a:endParaRPr lang="en-MY" sz="2300" dirty="0"/>
          </a:p>
        </p:txBody>
      </p:sp>
      <p:sp>
        <p:nvSpPr>
          <p:cNvPr id="16" name="TextBox 15">
            <a:extLst>
              <a:ext uri="{FF2B5EF4-FFF2-40B4-BE49-F238E27FC236}">
                <a16:creationId xmlns:a16="http://schemas.microsoft.com/office/drawing/2014/main" id="{BEC9A00D-9E14-BC30-EC3F-45E1F48C3EBA}"/>
              </a:ext>
            </a:extLst>
          </p:cNvPr>
          <p:cNvSpPr txBox="1"/>
          <p:nvPr/>
        </p:nvSpPr>
        <p:spPr>
          <a:xfrm>
            <a:off x="11568954" y="14189364"/>
            <a:ext cx="9229451" cy="2569934"/>
          </a:xfrm>
          <a:prstGeom prst="rect">
            <a:avLst/>
          </a:prstGeom>
          <a:noFill/>
        </p:spPr>
        <p:txBody>
          <a:bodyPr wrap="square" rtlCol="0">
            <a:spAutoFit/>
          </a:bodyPr>
          <a:lstStyle/>
          <a:p>
            <a:pPr algn="just"/>
            <a:r>
              <a:rPr lang="en-US" sz="2300" dirty="0">
                <a:latin typeface="Times New Roman" panose="02020603050405020304" pitchFamily="18" charset="0"/>
                <a:cs typeface="Times New Roman" panose="02020603050405020304" pitchFamily="18" charset="0"/>
              </a:rPr>
              <a:t>Figure 2 shows the </a:t>
            </a:r>
            <a:r>
              <a:rPr lang="en-US" sz="2300" dirty="0" err="1">
                <a:latin typeface="Times New Roman" panose="02020603050405020304" pitchFamily="18" charset="0"/>
                <a:cs typeface="Times New Roman" panose="02020603050405020304" pitchFamily="18" charset="0"/>
              </a:rPr>
              <a:t>Streamlit</a:t>
            </a:r>
            <a:r>
              <a:rPr lang="en-US" sz="2300" dirty="0">
                <a:latin typeface="Times New Roman" panose="02020603050405020304" pitchFamily="18" charset="0"/>
                <a:cs typeface="Times New Roman" panose="02020603050405020304" pitchFamily="18" charset="0"/>
              </a:rPr>
              <a:t> user interface for optimizing quantitative trading strategies. Users can upload market data, select parameters like timeframe and strategy, and choose between Bayesian Optimization or Grid Search CV for optimization. The interface displays results in a 3D surface plot that visualizes the Sharpe Ratio across different settings, with a color gradient to indicate value levels, facilitating easy analysis of optimal parameters.</a:t>
            </a:r>
            <a:endParaRPr lang="en-MY" sz="230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2087C550-CC14-C9E5-0863-F09F7C1D2D50}"/>
              </a:ext>
            </a:extLst>
          </p:cNvPr>
          <p:cNvPicPr>
            <a:picLocks noChangeAspect="1"/>
          </p:cNvPicPr>
          <p:nvPr/>
        </p:nvPicPr>
        <p:blipFill>
          <a:blip r:embed="rId5"/>
          <a:stretch>
            <a:fillRect/>
          </a:stretch>
        </p:blipFill>
        <p:spPr>
          <a:xfrm>
            <a:off x="12763849" y="16936600"/>
            <a:ext cx="7046343" cy="4350696"/>
          </a:xfrm>
          <a:prstGeom prst="rect">
            <a:avLst/>
          </a:prstGeom>
        </p:spPr>
      </p:pic>
      <p:sp>
        <p:nvSpPr>
          <p:cNvPr id="19" name="TextBox 18">
            <a:extLst>
              <a:ext uri="{FF2B5EF4-FFF2-40B4-BE49-F238E27FC236}">
                <a16:creationId xmlns:a16="http://schemas.microsoft.com/office/drawing/2014/main" id="{DDBEC218-04FD-F29A-FB8F-9F244ED03A73}"/>
              </a:ext>
            </a:extLst>
          </p:cNvPr>
          <p:cNvSpPr txBox="1"/>
          <p:nvPr/>
        </p:nvSpPr>
        <p:spPr>
          <a:xfrm>
            <a:off x="13735172" y="21358931"/>
            <a:ext cx="5103695" cy="446276"/>
          </a:xfrm>
          <a:prstGeom prst="rect">
            <a:avLst/>
          </a:prstGeom>
          <a:noFill/>
        </p:spPr>
        <p:txBody>
          <a:bodyPr wrap="square" rtlCol="0">
            <a:spAutoFit/>
          </a:bodyPr>
          <a:lstStyle/>
          <a:p>
            <a:r>
              <a:rPr lang="en-MY" sz="2300" b="1" dirty="0">
                <a:solidFill>
                  <a:prstClr val="black"/>
                </a:solidFill>
                <a:latin typeface="Times New Roman" panose="02020603050405020304" pitchFamily="18" charset="0"/>
                <a:cs typeface="Times New Roman" panose="02020603050405020304" pitchFamily="18" charset="0"/>
              </a:rPr>
              <a:t>Figure 3: </a:t>
            </a:r>
            <a:r>
              <a:rPr lang="en-MY" sz="2300" dirty="0" err="1">
                <a:solidFill>
                  <a:prstClr val="black"/>
                </a:solidFill>
                <a:latin typeface="Times New Roman" panose="02020603050405020304" pitchFamily="18" charset="0"/>
                <a:cs typeface="Times New Roman" panose="02020603050405020304" pitchFamily="18" charset="0"/>
              </a:rPr>
              <a:t>Cybotrade</a:t>
            </a:r>
            <a:r>
              <a:rPr lang="en-MY" sz="2300" dirty="0">
                <a:solidFill>
                  <a:prstClr val="black"/>
                </a:solidFill>
                <a:latin typeface="Times New Roman" panose="02020603050405020304" pitchFamily="18" charset="0"/>
                <a:cs typeface="Times New Roman" panose="02020603050405020304" pitchFamily="18" charset="0"/>
              </a:rPr>
              <a:t> Cloud Dashboard</a:t>
            </a:r>
            <a:endParaRPr lang="en-MY" sz="2300" dirty="0"/>
          </a:p>
        </p:txBody>
      </p:sp>
      <p:sp>
        <p:nvSpPr>
          <p:cNvPr id="20" name="TextBox 19">
            <a:extLst>
              <a:ext uri="{FF2B5EF4-FFF2-40B4-BE49-F238E27FC236}">
                <a16:creationId xmlns:a16="http://schemas.microsoft.com/office/drawing/2014/main" id="{C4D8E8F7-6FD2-EF19-DA03-AE2D282EC038}"/>
              </a:ext>
            </a:extLst>
          </p:cNvPr>
          <p:cNvSpPr txBox="1"/>
          <p:nvPr/>
        </p:nvSpPr>
        <p:spPr>
          <a:xfrm>
            <a:off x="11626276" y="21839792"/>
            <a:ext cx="9114805" cy="1862048"/>
          </a:xfrm>
          <a:prstGeom prst="rect">
            <a:avLst/>
          </a:prstGeom>
          <a:noFill/>
        </p:spPr>
        <p:txBody>
          <a:bodyPr wrap="square" rtlCol="0">
            <a:spAutoFit/>
          </a:bodyPr>
          <a:lstStyle/>
          <a:p>
            <a:pPr algn="just"/>
            <a:r>
              <a:rPr lang="en-US" sz="2300" dirty="0">
                <a:latin typeface="Times New Roman" panose="02020603050405020304" pitchFamily="18" charset="0"/>
                <a:cs typeface="Times New Roman" panose="02020603050405020304" pitchFamily="18" charset="0"/>
              </a:rPr>
              <a:t>Figure 3 displays the </a:t>
            </a:r>
            <a:r>
              <a:rPr lang="en-US" sz="2300" dirty="0" err="1">
                <a:latin typeface="Times New Roman" panose="02020603050405020304" pitchFamily="18" charset="0"/>
                <a:cs typeface="Times New Roman" panose="02020603050405020304" pitchFamily="18" charset="0"/>
              </a:rPr>
              <a:t>Cybotrade</a:t>
            </a:r>
            <a:r>
              <a:rPr lang="en-US" sz="2300" dirty="0">
                <a:latin typeface="Times New Roman" panose="02020603050405020304" pitchFamily="18" charset="0"/>
                <a:cs typeface="Times New Roman" panose="02020603050405020304" pitchFamily="18" charset="0"/>
              </a:rPr>
              <a:t> Cloud interface, used for </a:t>
            </a:r>
            <a:r>
              <a:rPr lang="en-US" sz="2300" b="1" dirty="0">
                <a:latin typeface="Times New Roman" panose="02020603050405020304" pitchFamily="18" charset="0"/>
                <a:cs typeface="Times New Roman" panose="02020603050405020304" pitchFamily="18" charset="0"/>
              </a:rPr>
              <a:t>real-world testing </a:t>
            </a:r>
            <a:r>
              <a:rPr lang="en-US" sz="2300" dirty="0">
                <a:latin typeface="Times New Roman" panose="02020603050405020304" pitchFamily="18" charset="0"/>
                <a:cs typeface="Times New Roman" panose="02020603050405020304" pitchFamily="18" charset="0"/>
              </a:rPr>
              <a:t>of trading strategies. This platform connects strategies directly to market exchanges, executing and managing trades based on defined strategies, and continuously monitors and updates their statuses, ensuring seamless integration with users' exchange accounts.</a:t>
            </a:r>
            <a:endParaRPr lang="en-MY"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600487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725</TotalTime>
  <Words>725</Words>
  <Application>Microsoft Office PowerPoint</Application>
  <PresentationFormat>Custom</PresentationFormat>
  <Paragraphs>61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Gill Sans MT</vt:lpstr>
      <vt:lpstr>Times New Roman</vt:lpstr>
      <vt:lpstr>Gallery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richieyyp richieyyp</dc:creator>
  <cp:lastModifiedBy>Li Yang</cp:lastModifiedBy>
  <cp:revision>64</cp:revision>
  <dcterms:created xsi:type="dcterms:W3CDTF">2017-11-11T15:21:15Z</dcterms:created>
  <dcterms:modified xsi:type="dcterms:W3CDTF">2024-09-16T02:43:27Z</dcterms:modified>
</cp:coreProperties>
</file>